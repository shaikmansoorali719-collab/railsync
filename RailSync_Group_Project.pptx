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865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48640"/>
            <a:ext cx="4389120" cy="146304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chemeClr val="accent1"/>
          </a:solidFill>
          <a:ln/>
        </p:spPr>
      </p:sp>
      <p:sp>
        <p:nvSpPr>
          <p:cNvPr id="3" name="Text 1"/>
          <p:cNvSpPr>
            <a:spLocks noGrp="1"/>
          </p:cNvSpPr>
          <p:nvPr>
            <p:ph type="title" idx="101" hasCustomPrompt="1"/>
          </p:nvPr>
        </p:nvSpPr>
        <p:spPr>
          <a:xfrm>
            <a:off x="365760" y="182880"/>
            <a:ext cx="8412480" cy="502920"/>
          </a:xfrm>
          <a:prstGeom prst="rect">
            <a:avLst/>
          </a:prstGeom>
          <a:noFill/>
          <a:ln/>
        </p:spPr>
        <p:txBody>
          <a:bodyPr wrap="square" rtlCol="0"/>
          <a:lstStyle>
            <a:lvl1pPr marL="0" indent="0" algn="l">
              <a:buNone/>
              <a:defRPr lang="en-US" sz="2200" b="1" dirty="0">
                <a:solidFill>
                  <a:schemeClr val="tx1"/>
                </a:solidFill>
              </a:defRPr>
            </a:lvl1pPr>
          </a:lstStyle>
          <a:p>
            <a:pPr marL="0" indent="0" algn="l">
              <a:buNone/>
            </a:pPr>
            <a:endParaRPr lang="en-US" sz="2200" dirty="0"/>
          </a:p>
        </p:txBody>
      </p:sp>
      <p:sp>
        <p:nvSpPr>
          <p:cNvPr id="4" name="Text 1"/>
          <p:cNvSpPr/>
          <p:nvPr/>
        </p:nvSpPr>
        <p:spPr>
          <a:xfrm>
            <a:off x="365760" y="4846320"/>
            <a:ext cx="5486400" cy="228600"/>
          </a:xfrm>
          <a:prstGeom prst="rect">
            <a:avLst/>
          </a:prstGeom>
          <a:noFill/>
          <a:ln/>
        </p:spPr>
        <p:txBody>
          <a:bodyPr wrap="square" lIns="0" tIns="0" rIns="0" bIns="0" rtlCol="0" anchor="ctr"/>
          <a:lstStyle/>
          <a:p>
            <a:pPr marL="0" indent="0">
              <a:buNone/>
            </a:pPr>
            <a:r>
              <a:rPr lang="en-US" sz="800" dirty="0">
                <a:solidFill>
                  <a:schemeClr val="tx2"/>
                </a:solidFill>
              </a:rPr>
              <a:t>RailSync · Advanced Algorithms for Railway Data Processing</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48640"/>
            <a:ext cx="4389120" cy="1463040"/>
          </a:xfrm>
          <a:prstGeom prst="rect">
            <a:avLst/>
          </a:prstGeom>
          <a:noFill/>
          <a:ln/>
        </p:spPr>
        <p:txBody>
          <a:bodyPr wrap="square" lIns="0" tIns="0" rIns="0" bIns="0" rtlCol="0" anchor="t"/>
          <a:lstStyle/>
          <a:p>
            <a:pPr marL="0" indent="0" algn="l">
              <a:buNone/>
            </a:pPr>
            <a:r>
              <a:rPr lang="en-US" sz="2800" b="1" dirty="0">
                <a:solidFill>
                  <a:schemeClr val="bg1"/>
                </a:solidFill>
              </a:rPr>
              <a:t>RailSync — Intelligent Railway Operations Platform</a:t>
            </a:r>
            <a:endParaRPr lang="en-US" sz="2800" dirty="0"/>
          </a:p>
        </p:txBody>
      </p:sp>
      <p:sp>
        <p:nvSpPr>
          <p:cNvPr id="3" name="Text 1"/>
          <p:cNvSpPr txBox="1"/>
          <p:nvPr/>
        </p:nvSpPr>
        <p:spPr>
          <a:xfrm>
            <a:off x="457200" y="2057400"/>
            <a:ext cx="4206240" cy="548640"/>
          </a:xfrm>
          <a:prstGeom prst="rect">
            <a:avLst/>
          </a:prstGeom>
          <a:noFill/>
          <a:ln/>
        </p:spPr>
        <p:txBody>
          <a:bodyPr wrap="square" lIns="0" tIns="0" rIns="0" bIns="0" rtlCol="0" anchor="t"/>
          <a:lstStyle/>
          <a:p>
            <a:pPr marL="0" indent="0">
              <a:buNone/>
            </a:pPr>
            <a:r>
              <a:rPr lang="en-US" sz="1200" dirty="0">
                <a:solidFill>
                  <a:schemeClr val="bg2"/>
                </a:solidFill>
              </a:rPr>
              <a:t>Advanced Algorithms for Railway Data Processing, Search, Optimisation and Analytics</a:t>
            </a:r>
            <a:endParaRPr lang="en-US" sz="1200" dirty="0"/>
          </a:p>
        </p:txBody>
      </p:sp>
      <p:sp>
        <p:nvSpPr>
          <p:cNvPr id="4" name="Shape 2"/>
          <p:cNvSpPr/>
          <p:nvPr/>
        </p:nvSpPr>
        <p:spPr>
          <a:xfrm>
            <a:off x="420624" y="2571750"/>
            <a:ext cx="4242816" cy="2366010"/>
          </a:xfrm>
          <a:prstGeom prst="rect">
            <a:avLst/>
          </a:prstGeom>
          <a:solidFill>
            <a:schemeClr val="tx2"/>
          </a:solidFill>
          <a:ln w="12700">
            <a:solidFill>
              <a:schemeClr val="accent1"/>
            </a:solidFill>
            <a:prstDash val="solid"/>
          </a:ln>
        </p:spPr>
      </p:sp>
      <p:sp>
        <p:nvSpPr>
          <p:cNvPr id="5" name="Text 3"/>
          <p:cNvSpPr txBox="1"/>
          <p:nvPr/>
        </p:nvSpPr>
        <p:spPr>
          <a:xfrm>
            <a:off x="608076" y="2331720"/>
            <a:ext cx="3840480" cy="2697480"/>
          </a:xfrm>
          <a:prstGeom prst="rect">
            <a:avLst/>
          </a:prstGeom>
          <a:noFill/>
          <a:ln/>
        </p:spPr>
        <p:txBody>
          <a:bodyPr wrap="square" lIns="0" tIns="0" rIns="0" bIns="0" rtlCol="0" anchor="ctr"/>
          <a:lstStyle/>
          <a:p>
            <a:pPr marL="0" indent="0">
              <a:spcAft>
                <a:spcPts val="600"/>
              </a:spcAft>
              <a:buNone/>
            </a:pPr>
            <a:r>
              <a:rPr lang="en-US" sz="1050" b="1" dirty="0">
                <a:solidFill>
                  <a:schemeClr val="bg1"/>
                </a:solidFill>
              </a:rPr>
              <a:t>Group members : Sk. Mansoor Ali -2500031549</a:t>
            </a:r>
          </a:p>
          <a:p>
            <a:pPr marL="0" indent="0">
              <a:spcAft>
                <a:spcPts val="600"/>
              </a:spcAft>
              <a:buNone/>
            </a:pPr>
            <a:r>
              <a:rPr lang="en-US" sz="1050" b="1" dirty="0">
                <a:solidFill>
                  <a:schemeClr val="bg1"/>
                </a:solidFill>
              </a:rPr>
              <a:t>	   M. Abhiram - 2500031552</a:t>
            </a:r>
          </a:p>
          <a:p>
            <a:pPr marL="0" indent="0">
              <a:spcAft>
                <a:spcPts val="600"/>
              </a:spcAft>
              <a:buNone/>
            </a:pPr>
            <a:r>
              <a:rPr lang="en-US" sz="1050" b="1" dirty="0">
                <a:solidFill>
                  <a:schemeClr val="bg1"/>
                </a:solidFill>
              </a:rPr>
              <a:t>	   J. </a:t>
            </a:r>
            <a:r>
              <a:rPr lang="en-US" sz="1050" b="1" dirty="0" err="1">
                <a:solidFill>
                  <a:schemeClr val="bg1"/>
                </a:solidFill>
              </a:rPr>
              <a:t>Simhadhar</a:t>
            </a:r>
            <a:r>
              <a:rPr lang="en-US" sz="1050" b="1" dirty="0">
                <a:solidFill>
                  <a:schemeClr val="bg1"/>
                </a:solidFill>
              </a:rPr>
              <a:t> – 2500031371</a:t>
            </a:r>
          </a:p>
          <a:p>
            <a:pPr marL="0" indent="0">
              <a:spcAft>
                <a:spcPts val="600"/>
              </a:spcAft>
              <a:buNone/>
            </a:pPr>
            <a:r>
              <a:rPr lang="en-US" sz="1050" b="1">
                <a:solidFill>
                  <a:schemeClr val="bg1"/>
                </a:solidFill>
              </a:rPr>
              <a:t>	   T</a:t>
            </a:r>
            <a:r>
              <a:rPr lang="en-US" sz="1050" b="1" dirty="0">
                <a:solidFill>
                  <a:schemeClr val="bg1"/>
                </a:solidFill>
              </a:rPr>
              <a:t>. Ujwal - 2500030166 </a:t>
            </a:r>
          </a:p>
          <a:p>
            <a:pPr marL="0" indent="0">
              <a:spcAft>
                <a:spcPts val="600"/>
              </a:spcAft>
              <a:buNone/>
            </a:pPr>
            <a:endParaRPr lang="en-US" sz="1050" dirty="0"/>
          </a:p>
          <a:p>
            <a:pPr marL="0" indent="0">
              <a:spcAft>
                <a:spcPts val="600"/>
              </a:spcAft>
              <a:buNone/>
            </a:pPr>
            <a:r>
              <a:rPr lang="en-US" sz="1050" b="1" dirty="0">
                <a:solidFill>
                  <a:schemeClr val="bg1"/>
                </a:solidFill>
              </a:rPr>
              <a:t>Faculty: Dr. M. Syamala</a:t>
            </a:r>
            <a:endParaRPr lang="en-US" sz="1050" dirty="0"/>
          </a:p>
          <a:p>
            <a:pPr marL="0" indent="0">
              <a:spcAft>
                <a:spcPts val="600"/>
              </a:spcAft>
              <a:buNone/>
            </a:pPr>
            <a:r>
              <a:rPr lang="en-US" sz="1050" b="1" dirty="0">
                <a:solidFill>
                  <a:schemeClr val="bg1"/>
                </a:solidFill>
              </a:rPr>
              <a:t>Department &amp; institution: CSE , KL University</a:t>
            </a:r>
            <a:endParaRPr lang="en-US" sz="1050" dirty="0"/>
          </a:p>
          <a:p>
            <a:pPr marL="0" indent="0">
              <a:spcAft>
                <a:spcPts val="600"/>
              </a:spcAft>
              <a:buNone/>
            </a:pPr>
            <a:r>
              <a:rPr lang="en-US" sz="1050" b="1" dirty="0">
                <a:solidFill>
                  <a:schemeClr val="bg1"/>
                </a:solidFill>
              </a:rPr>
              <a:t>Course : Data Structures and Algorithms</a:t>
            </a:r>
            <a:endParaRPr lang="en-US" sz="1050" dirty="0"/>
          </a:p>
        </p:txBody>
      </p:sp>
      <p:sp>
        <p:nvSpPr>
          <p:cNvPr id="6" name="Shape 4"/>
          <p:cNvSpPr/>
          <p:nvPr/>
        </p:nvSpPr>
        <p:spPr>
          <a:xfrm flipV="1">
            <a:off x="5486400" y="731520"/>
            <a:ext cx="1097280" cy="365760"/>
          </a:xfrm>
          <a:prstGeom prst="line">
            <a:avLst/>
          </a:prstGeom>
          <a:noFill/>
          <a:ln w="19050">
            <a:solidFill>
              <a:schemeClr val="accent1"/>
            </a:solidFill>
            <a:prstDash val="solid"/>
          </a:ln>
        </p:spPr>
      </p:sp>
      <p:sp>
        <p:nvSpPr>
          <p:cNvPr id="7" name="Shape 5"/>
          <p:cNvSpPr/>
          <p:nvPr/>
        </p:nvSpPr>
        <p:spPr>
          <a:xfrm>
            <a:off x="6583680" y="731520"/>
            <a:ext cx="1280160" cy="548640"/>
          </a:xfrm>
          <a:prstGeom prst="line">
            <a:avLst/>
          </a:prstGeom>
          <a:noFill/>
          <a:ln w="19050">
            <a:solidFill>
              <a:schemeClr val="accent1"/>
            </a:solidFill>
            <a:prstDash val="solid"/>
          </a:ln>
        </p:spPr>
      </p:sp>
      <p:sp>
        <p:nvSpPr>
          <p:cNvPr id="8" name="Shape 6"/>
          <p:cNvSpPr/>
          <p:nvPr/>
        </p:nvSpPr>
        <p:spPr>
          <a:xfrm>
            <a:off x="7863840" y="1280160"/>
            <a:ext cx="548640" cy="1005840"/>
          </a:xfrm>
          <a:prstGeom prst="line">
            <a:avLst/>
          </a:prstGeom>
          <a:noFill/>
          <a:ln w="19050">
            <a:solidFill>
              <a:schemeClr val="accent1"/>
            </a:solidFill>
            <a:prstDash val="solid"/>
          </a:ln>
        </p:spPr>
      </p:sp>
      <p:sp>
        <p:nvSpPr>
          <p:cNvPr id="9" name="Shape 7"/>
          <p:cNvSpPr/>
          <p:nvPr/>
        </p:nvSpPr>
        <p:spPr>
          <a:xfrm>
            <a:off x="6583680" y="731520"/>
            <a:ext cx="731520" cy="1371600"/>
          </a:xfrm>
          <a:prstGeom prst="line">
            <a:avLst/>
          </a:prstGeom>
          <a:noFill/>
          <a:ln w="19050">
            <a:solidFill>
              <a:schemeClr val="accent1"/>
            </a:solidFill>
            <a:prstDash val="solid"/>
          </a:ln>
        </p:spPr>
      </p:sp>
      <p:sp>
        <p:nvSpPr>
          <p:cNvPr id="10" name="Shape 8"/>
          <p:cNvSpPr/>
          <p:nvPr/>
        </p:nvSpPr>
        <p:spPr>
          <a:xfrm>
            <a:off x="7315200" y="2103120"/>
            <a:ext cx="1097280" cy="182880"/>
          </a:xfrm>
          <a:prstGeom prst="line">
            <a:avLst/>
          </a:prstGeom>
          <a:noFill/>
          <a:ln w="19050">
            <a:solidFill>
              <a:schemeClr val="accent1"/>
            </a:solidFill>
            <a:prstDash val="solid"/>
          </a:ln>
        </p:spPr>
      </p:sp>
      <p:sp>
        <p:nvSpPr>
          <p:cNvPr id="11" name="Shape 9"/>
          <p:cNvSpPr/>
          <p:nvPr/>
        </p:nvSpPr>
        <p:spPr>
          <a:xfrm flipH="1">
            <a:off x="6035040" y="2103120"/>
            <a:ext cx="1280160" cy="274320"/>
          </a:xfrm>
          <a:prstGeom prst="line">
            <a:avLst/>
          </a:prstGeom>
          <a:noFill/>
          <a:ln w="19050">
            <a:solidFill>
              <a:schemeClr val="accent1"/>
            </a:solidFill>
            <a:prstDash val="solid"/>
          </a:ln>
        </p:spPr>
      </p:sp>
      <p:sp>
        <p:nvSpPr>
          <p:cNvPr id="12" name="Shape 10"/>
          <p:cNvSpPr/>
          <p:nvPr/>
        </p:nvSpPr>
        <p:spPr>
          <a:xfrm>
            <a:off x="5486400" y="1097280"/>
            <a:ext cx="548640" cy="1280160"/>
          </a:xfrm>
          <a:prstGeom prst="line">
            <a:avLst/>
          </a:prstGeom>
          <a:noFill/>
          <a:ln w="19050">
            <a:solidFill>
              <a:schemeClr val="accent1"/>
            </a:solidFill>
            <a:prstDash val="solid"/>
          </a:ln>
        </p:spPr>
      </p:sp>
      <p:sp>
        <p:nvSpPr>
          <p:cNvPr id="13" name="Shape 11"/>
          <p:cNvSpPr/>
          <p:nvPr/>
        </p:nvSpPr>
        <p:spPr>
          <a:xfrm flipH="1">
            <a:off x="5212080" y="2377440"/>
            <a:ext cx="822960" cy="1005840"/>
          </a:xfrm>
          <a:prstGeom prst="line">
            <a:avLst/>
          </a:prstGeom>
          <a:noFill/>
          <a:ln w="19050">
            <a:solidFill>
              <a:schemeClr val="accent1"/>
            </a:solidFill>
            <a:prstDash val="solid"/>
          </a:ln>
        </p:spPr>
      </p:sp>
      <p:sp>
        <p:nvSpPr>
          <p:cNvPr id="14" name="Shape 12"/>
          <p:cNvSpPr/>
          <p:nvPr/>
        </p:nvSpPr>
        <p:spPr>
          <a:xfrm>
            <a:off x="6035040" y="2377440"/>
            <a:ext cx="457200" cy="1188720"/>
          </a:xfrm>
          <a:prstGeom prst="line">
            <a:avLst/>
          </a:prstGeom>
          <a:noFill/>
          <a:ln w="19050">
            <a:solidFill>
              <a:schemeClr val="accent1"/>
            </a:solidFill>
            <a:prstDash val="solid"/>
          </a:ln>
        </p:spPr>
      </p:sp>
      <p:sp>
        <p:nvSpPr>
          <p:cNvPr id="15" name="Shape 13"/>
          <p:cNvSpPr/>
          <p:nvPr/>
        </p:nvSpPr>
        <p:spPr>
          <a:xfrm>
            <a:off x="7315200" y="2103120"/>
            <a:ext cx="457200" cy="1188720"/>
          </a:xfrm>
          <a:prstGeom prst="line">
            <a:avLst/>
          </a:prstGeom>
          <a:noFill/>
          <a:ln w="19050">
            <a:solidFill>
              <a:schemeClr val="accent1"/>
            </a:solidFill>
            <a:prstDash val="solid"/>
          </a:ln>
        </p:spPr>
      </p:sp>
      <p:sp>
        <p:nvSpPr>
          <p:cNvPr id="16" name="Shape 14"/>
          <p:cNvSpPr/>
          <p:nvPr/>
        </p:nvSpPr>
        <p:spPr>
          <a:xfrm flipV="1">
            <a:off x="7772400" y="2286000"/>
            <a:ext cx="640080" cy="1005840"/>
          </a:xfrm>
          <a:prstGeom prst="line">
            <a:avLst/>
          </a:prstGeom>
          <a:noFill/>
          <a:ln w="19050">
            <a:solidFill>
              <a:schemeClr val="accent1"/>
            </a:solidFill>
            <a:prstDash val="solid"/>
          </a:ln>
        </p:spPr>
      </p:sp>
      <p:sp>
        <p:nvSpPr>
          <p:cNvPr id="17" name="Shape 15"/>
          <p:cNvSpPr/>
          <p:nvPr/>
        </p:nvSpPr>
        <p:spPr>
          <a:xfrm flipV="1">
            <a:off x="6492240" y="3291840"/>
            <a:ext cx="1280160" cy="274320"/>
          </a:xfrm>
          <a:prstGeom prst="line">
            <a:avLst/>
          </a:prstGeom>
          <a:noFill/>
          <a:ln w="19050">
            <a:solidFill>
              <a:schemeClr val="accent1"/>
            </a:solidFill>
            <a:prstDash val="solid"/>
          </a:ln>
        </p:spPr>
      </p:sp>
      <p:sp>
        <p:nvSpPr>
          <p:cNvPr id="18" name="Shape 16"/>
          <p:cNvSpPr/>
          <p:nvPr/>
        </p:nvSpPr>
        <p:spPr>
          <a:xfrm>
            <a:off x="5212080" y="3383280"/>
            <a:ext cx="548640" cy="1005840"/>
          </a:xfrm>
          <a:prstGeom prst="line">
            <a:avLst/>
          </a:prstGeom>
          <a:noFill/>
          <a:ln w="19050">
            <a:solidFill>
              <a:schemeClr val="accent1"/>
            </a:solidFill>
            <a:prstDash val="solid"/>
          </a:ln>
        </p:spPr>
      </p:sp>
      <p:sp>
        <p:nvSpPr>
          <p:cNvPr id="19" name="Shape 17"/>
          <p:cNvSpPr/>
          <p:nvPr/>
        </p:nvSpPr>
        <p:spPr>
          <a:xfrm flipH="1">
            <a:off x="5760720" y="3566160"/>
            <a:ext cx="731520" cy="822960"/>
          </a:xfrm>
          <a:prstGeom prst="line">
            <a:avLst/>
          </a:prstGeom>
          <a:noFill/>
          <a:ln w="19050">
            <a:solidFill>
              <a:schemeClr val="accent1"/>
            </a:solidFill>
            <a:prstDash val="solid"/>
          </a:ln>
        </p:spPr>
      </p:sp>
      <p:sp>
        <p:nvSpPr>
          <p:cNvPr id="20" name="Shape 18"/>
          <p:cNvSpPr/>
          <p:nvPr/>
        </p:nvSpPr>
        <p:spPr>
          <a:xfrm>
            <a:off x="6492240" y="3566160"/>
            <a:ext cx="640080" cy="914400"/>
          </a:xfrm>
          <a:prstGeom prst="line">
            <a:avLst/>
          </a:prstGeom>
          <a:noFill/>
          <a:ln w="19050">
            <a:solidFill>
              <a:schemeClr val="accent1"/>
            </a:solidFill>
            <a:prstDash val="solid"/>
          </a:ln>
        </p:spPr>
      </p:sp>
      <p:sp>
        <p:nvSpPr>
          <p:cNvPr id="21" name="Shape 19"/>
          <p:cNvSpPr/>
          <p:nvPr/>
        </p:nvSpPr>
        <p:spPr>
          <a:xfrm>
            <a:off x="7772400" y="3291840"/>
            <a:ext cx="457200" cy="1005840"/>
          </a:xfrm>
          <a:prstGeom prst="line">
            <a:avLst/>
          </a:prstGeom>
          <a:noFill/>
          <a:ln w="19050">
            <a:solidFill>
              <a:schemeClr val="accent1"/>
            </a:solidFill>
            <a:prstDash val="solid"/>
          </a:ln>
        </p:spPr>
      </p:sp>
      <p:sp>
        <p:nvSpPr>
          <p:cNvPr id="22" name="Shape 20"/>
          <p:cNvSpPr/>
          <p:nvPr/>
        </p:nvSpPr>
        <p:spPr>
          <a:xfrm flipV="1">
            <a:off x="7132320" y="4297680"/>
            <a:ext cx="1097280" cy="182880"/>
          </a:xfrm>
          <a:prstGeom prst="line">
            <a:avLst/>
          </a:prstGeom>
          <a:noFill/>
          <a:ln w="19050">
            <a:solidFill>
              <a:schemeClr val="accent1"/>
            </a:solidFill>
            <a:prstDash val="solid"/>
          </a:ln>
        </p:spPr>
      </p:sp>
      <p:sp>
        <p:nvSpPr>
          <p:cNvPr id="23" name="Text 21"/>
          <p:cNvSpPr txBox="1"/>
          <p:nvPr/>
        </p:nvSpPr>
        <p:spPr>
          <a:xfrm>
            <a:off x="5404104" y="101498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24" name="Text 22"/>
          <p:cNvSpPr txBox="1"/>
          <p:nvPr/>
        </p:nvSpPr>
        <p:spPr>
          <a:xfrm>
            <a:off x="6446520" y="594360"/>
            <a:ext cx="274320" cy="274320"/>
          </a:xfrm>
          <a:prstGeom prst="ellipse">
            <a:avLst/>
          </a:prstGeom>
          <a:solidFill>
            <a:schemeClr val="accent2"/>
          </a:solidFill>
          <a:ln>
            <a:solidFill>
              <a:schemeClr val="accent2"/>
            </a:solidFill>
          </a:ln>
        </p:spPr>
        <p:txBody>
          <a:bodyPr wrap="square" lIns="0" tIns="0" rIns="0" bIns="0" rtlCol="0" anchor="ctr"/>
          <a:lstStyle/>
          <a:p>
            <a:pPr marL="0" indent="0" algn="ctr">
              <a:buNone/>
            </a:pPr>
            <a:endParaRPr lang="en-US" sz="800" dirty="0"/>
          </a:p>
        </p:txBody>
      </p:sp>
      <p:sp>
        <p:nvSpPr>
          <p:cNvPr id="25" name="Text 23"/>
          <p:cNvSpPr txBox="1"/>
          <p:nvPr/>
        </p:nvSpPr>
        <p:spPr>
          <a:xfrm>
            <a:off x="7781544" y="119786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26" name="Text 24"/>
          <p:cNvSpPr txBox="1"/>
          <p:nvPr/>
        </p:nvSpPr>
        <p:spPr>
          <a:xfrm>
            <a:off x="8330184" y="220370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27" name="Text 25"/>
          <p:cNvSpPr txBox="1"/>
          <p:nvPr/>
        </p:nvSpPr>
        <p:spPr>
          <a:xfrm>
            <a:off x="7178040" y="1965960"/>
            <a:ext cx="274320" cy="274320"/>
          </a:xfrm>
          <a:prstGeom prst="ellipse">
            <a:avLst/>
          </a:prstGeom>
          <a:solidFill>
            <a:schemeClr val="accent2"/>
          </a:solidFill>
          <a:ln>
            <a:solidFill>
              <a:schemeClr val="accent2"/>
            </a:solidFill>
          </a:ln>
        </p:spPr>
        <p:txBody>
          <a:bodyPr wrap="square" lIns="0" tIns="0" rIns="0" bIns="0" rtlCol="0" anchor="ctr"/>
          <a:lstStyle/>
          <a:p>
            <a:pPr marL="0" indent="0" algn="ctr">
              <a:buNone/>
            </a:pPr>
            <a:endParaRPr lang="en-US" sz="800" dirty="0"/>
          </a:p>
        </p:txBody>
      </p:sp>
      <p:sp>
        <p:nvSpPr>
          <p:cNvPr id="28" name="Text 26"/>
          <p:cNvSpPr txBox="1"/>
          <p:nvPr/>
        </p:nvSpPr>
        <p:spPr>
          <a:xfrm>
            <a:off x="5952744" y="229514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29" name="Text 27"/>
          <p:cNvSpPr txBox="1"/>
          <p:nvPr/>
        </p:nvSpPr>
        <p:spPr>
          <a:xfrm>
            <a:off x="5129784" y="330098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30" name="Text 28"/>
          <p:cNvSpPr txBox="1"/>
          <p:nvPr/>
        </p:nvSpPr>
        <p:spPr>
          <a:xfrm>
            <a:off x="6355080" y="3429000"/>
            <a:ext cx="274320" cy="274320"/>
          </a:xfrm>
          <a:prstGeom prst="ellipse">
            <a:avLst/>
          </a:prstGeom>
          <a:solidFill>
            <a:schemeClr val="accent2"/>
          </a:solidFill>
          <a:ln>
            <a:solidFill>
              <a:schemeClr val="accent2"/>
            </a:solidFill>
          </a:ln>
        </p:spPr>
        <p:txBody>
          <a:bodyPr wrap="square" lIns="0" tIns="0" rIns="0" bIns="0" rtlCol="0" anchor="ctr"/>
          <a:lstStyle/>
          <a:p>
            <a:pPr marL="0" indent="0" algn="ctr">
              <a:buNone/>
            </a:pPr>
            <a:endParaRPr lang="en-US" sz="800" dirty="0"/>
          </a:p>
        </p:txBody>
      </p:sp>
      <p:sp>
        <p:nvSpPr>
          <p:cNvPr id="31" name="Text 29"/>
          <p:cNvSpPr txBox="1"/>
          <p:nvPr/>
        </p:nvSpPr>
        <p:spPr>
          <a:xfrm>
            <a:off x="7635240" y="3154680"/>
            <a:ext cx="274320" cy="274320"/>
          </a:xfrm>
          <a:prstGeom prst="ellipse">
            <a:avLst/>
          </a:prstGeom>
          <a:solidFill>
            <a:schemeClr val="accent2"/>
          </a:solidFill>
          <a:ln>
            <a:solidFill>
              <a:schemeClr val="accent2"/>
            </a:solidFill>
          </a:ln>
        </p:spPr>
        <p:txBody>
          <a:bodyPr wrap="square" lIns="0" tIns="0" rIns="0" bIns="0" rtlCol="0" anchor="ctr"/>
          <a:lstStyle/>
          <a:p>
            <a:pPr marL="0" indent="0" algn="ctr">
              <a:buNone/>
            </a:pPr>
            <a:endParaRPr lang="en-US" sz="800" dirty="0"/>
          </a:p>
        </p:txBody>
      </p:sp>
      <p:sp>
        <p:nvSpPr>
          <p:cNvPr id="32" name="Text 30"/>
          <p:cNvSpPr txBox="1"/>
          <p:nvPr/>
        </p:nvSpPr>
        <p:spPr>
          <a:xfrm>
            <a:off x="8147304" y="421538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33" name="Text 31"/>
          <p:cNvSpPr txBox="1"/>
          <p:nvPr/>
        </p:nvSpPr>
        <p:spPr>
          <a:xfrm>
            <a:off x="5678424" y="430682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
        <p:nvSpPr>
          <p:cNvPr id="34" name="Text 32"/>
          <p:cNvSpPr txBox="1"/>
          <p:nvPr/>
        </p:nvSpPr>
        <p:spPr>
          <a:xfrm>
            <a:off x="7050024" y="4398264"/>
            <a:ext cx="164592" cy="164592"/>
          </a:xfrm>
          <a:prstGeom prst="ellipse">
            <a:avLst/>
          </a:prstGeom>
          <a:solidFill>
            <a:schemeClr val="bg1"/>
          </a:solidFill>
          <a:ln>
            <a:solidFill>
              <a:schemeClr val="bg1"/>
            </a:solidFill>
          </a:ln>
        </p:spPr>
        <p:txBody>
          <a:bodyPr wrap="square" lIns="0" tIns="0" rIns="0" bIns="0" rtlCol="0" anchor="ctr"/>
          <a:lstStyle/>
          <a:p>
            <a:pPr marL="0" indent="0" algn="ctr">
              <a:buNone/>
            </a:pP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Problem Statement</a:t>
            </a:r>
            <a:endParaRPr lang="en-US" sz="2200" dirty="0"/>
          </a:p>
        </p:txBody>
      </p:sp>
      <p:sp>
        <p:nvSpPr>
          <p:cNvPr id="3" name="Text 1"/>
          <p:cNvSpPr txBox="1"/>
          <p:nvPr/>
        </p:nvSpPr>
        <p:spPr>
          <a:xfrm>
            <a:off x="365760" y="777240"/>
            <a:ext cx="8412480" cy="868680"/>
          </a:xfrm>
          <a:prstGeom prst="rect">
            <a:avLst/>
          </a:prstGeom>
          <a:noFill/>
          <a:ln/>
        </p:spPr>
        <p:txBody>
          <a:bodyPr wrap="square" lIns="0" tIns="0" rIns="0" bIns="0" rtlCol="0" anchor="t"/>
          <a:lstStyle/>
          <a:p>
            <a:pPr marL="0" indent="0">
              <a:buNone/>
            </a:pPr>
            <a:r>
              <a:rPr lang="en-US" sz="1050" dirty="0">
                <a:solidFill>
                  <a:schemeClr val="tx1"/>
                </a:solidFill>
              </a:rPr>
              <a:t>Railway information spans trains, stations, passengers, tickets, services, routes and capacity constraints. Searching records, catching typing errors, finding repeated text, evaluating assignments and analysing constrained scheduling are different computational challenges. No single general-purpose algorithm suits them all, so running time, memory, correctness and scalability must guide the choice. RailSync is a Java-based, menu-driven environment that demonstrates multiple advanced algorithms on railway datasets.</a:t>
            </a:r>
            <a:endParaRPr lang="en-US" sz="1050" dirty="0"/>
          </a:p>
        </p:txBody>
      </p:sp>
      <p:sp>
        <p:nvSpPr>
          <p:cNvPr id="4" name="Shape 2"/>
          <p:cNvSpPr/>
          <p:nvPr/>
        </p:nvSpPr>
        <p:spPr>
          <a:xfrm>
            <a:off x="365760" y="1783080"/>
            <a:ext cx="2697480" cy="658368"/>
          </a:xfrm>
          <a:prstGeom prst="rect">
            <a:avLst/>
          </a:prstGeom>
          <a:solidFill>
            <a:schemeClr val="bg1"/>
          </a:solidFill>
          <a:ln w="9525">
            <a:solidFill>
              <a:srgbClr val="CBD5E1"/>
            </a:solidFill>
            <a:prstDash val="solid"/>
          </a:ln>
        </p:spPr>
      </p:sp>
      <p:sp>
        <p:nvSpPr>
          <p:cNvPr id="5" name="Shape 3"/>
          <p:cNvSpPr/>
          <p:nvPr/>
        </p:nvSpPr>
        <p:spPr>
          <a:xfrm>
            <a:off x="365760" y="1783080"/>
            <a:ext cx="54864" cy="658368"/>
          </a:xfrm>
          <a:prstGeom prst="rect">
            <a:avLst/>
          </a:prstGeom>
          <a:solidFill>
            <a:schemeClr val="accent1"/>
          </a:solidFill>
          <a:ln w="12700">
            <a:solidFill>
              <a:schemeClr val="accent1"/>
            </a:solidFill>
            <a:prstDash val="solid"/>
          </a:ln>
        </p:spPr>
      </p:sp>
      <p:sp>
        <p:nvSpPr>
          <p:cNvPr id="6" name="Text 4"/>
          <p:cNvSpPr txBox="1"/>
          <p:nvPr/>
        </p:nvSpPr>
        <p:spPr>
          <a:xfrm>
            <a:off x="502920" y="1828800"/>
            <a:ext cx="2468880" cy="566928"/>
          </a:xfrm>
          <a:prstGeom prst="rect">
            <a:avLst/>
          </a:prstGeom>
          <a:noFill/>
          <a:ln/>
        </p:spPr>
        <p:txBody>
          <a:bodyPr wrap="square" lIns="0" tIns="0" rIns="0" bIns="0" rtlCol="0" anchor="ctr"/>
          <a:lstStyle/>
          <a:p>
            <a:pPr marL="0" indent="0">
              <a:buNone/>
            </a:pPr>
            <a:r>
              <a:rPr lang="en-US" sz="950" dirty="0">
                <a:solidFill>
                  <a:schemeClr val="tx1"/>
                </a:solidFill>
              </a:rPr>
              <a:t>Efficient train, station and ticket-record search</a:t>
            </a:r>
            <a:endParaRPr lang="en-US" sz="950" dirty="0"/>
          </a:p>
        </p:txBody>
      </p:sp>
      <p:sp>
        <p:nvSpPr>
          <p:cNvPr id="7" name="Shape 5"/>
          <p:cNvSpPr/>
          <p:nvPr/>
        </p:nvSpPr>
        <p:spPr>
          <a:xfrm>
            <a:off x="3223260" y="1783080"/>
            <a:ext cx="2697480" cy="658368"/>
          </a:xfrm>
          <a:prstGeom prst="rect">
            <a:avLst/>
          </a:prstGeom>
          <a:solidFill>
            <a:schemeClr val="bg1"/>
          </a:solidFill>
          <a:ln w="9525">
            <a:solidFill>
              <a:srgbClr val="CBD5E1"/>
            </a:solidFill>
            <a:prstDash val="solid"/>
          </a:ln>
        </p:spPr>
      </p:sp>
      <p:sp>
        <p:nvSpPr>
          <p:cNvPr id="8" name="Shape 6"/>
          <p:cNvSpPr/>
          <p:nvPr/>
        </p:nvSpPr>
        <p:spPr>
          <a:xfrm>
            <a:off x="3223260" y="1783080"/>
            <a:ext cx="54864" cy="658368"/>
          </a:xfrm>
          <a:prstGeom prst="rect">
            <a:avLst/>
          </a:prstGeom>
          <a:solidFill>
            <a:schemeClr val="accent1"/>
          </a:solidFill>
          <a:ln w="12700">
            <a:solidFill>
              <a:schemeClr val="accent1"/>
            </a:solidFill>
            <a:prstDash val="solid"/>
          </a:ln>
        </p:spPr>
      </p:sp>
      <p:sp>
        <p:nvSpPr>
          <p:cNvPr id="9" name="Text 7"/>
          <p:cNvSpPr txBox="1"/>
          <p:nvPr/>
        </p:nvSpPr>
        <p:spPr>
          <a:xfrm>
            <a:off x="3360420" y="1828800"/>
            <a:ext cx="2468880" cy="566928"/>
          </a:xfrm>
          <a:prstGeom prst="rect">
            <a:avLst/>
          </a:prstGeom>
          <a:noFill/>
          <a:ln/>
        </p:spPr>
        <p:txBody>
          <a:bodyPr wrap="square" lIns="0" tIns="0" rIns="0" bIns="0" rtlCol="0" anchor="ctr"/>
          <a:lstStyle/>
          <a:p>
            <a:pPr marL="0" indent="0">
              <a:buNone/>
            </a:pPr>
            <a:r>
              <a:rPr lang="en-US" sz="950" dirty="0">
                <a:solidFill>
                  <a:schemeClr val="tx1"/>
                </a:solidFill>
              </a:rPr>
              <a:t>Prefix matching and multiple-keyword detection</a:t>
            </a:r>
            <a:endParaRPr lang="en-US" sz="950" dirty="0"/>
          </a:p>
        </p:txBody>
      </p:sp>
      <p:sp>
        <p:nvSpPr>
          <p:cNvPr id="10" name="Shape 8"/>
          <p:cNvSpPr/>
          <p:nvPr/>
        </p:nvSpPr>
        <p:spPr>
          <a:xfrm>
            <a:off x="6080760" y="1783080"/>
            <a:ext cx="2697480" cy="658368"/>
          </a:xfrm>
          <a:prstGeom prst="rect">
            <a:avLst/>
          </a:prstGeom>
          <a:solidFill>
            <a:schemeClr val="bg1"/>
          </a:solidFill>
          <a:ln w="9525">
            <a:solidFill>
              <a:srgbClr val="CBD5E1"/>
            </a:solidFill>
            <a:prstDash val="solid"/>
          </a:ln>
        </p:spPr>
      </p:sp>
      <p:sp>
        <p:nvSpPr>
          <p:cNvPr id="11" name="Shape 9"/>
          <p:cNvSpPr/>
          <p:nvPr/>
        </p:nvSpPr>
        <p:spPr>
          <a:xfrm>
            <a:off x="6080760" y="1783080"/>
            <a:ext cx="54864" cy="658368"/>
          </a:xfrm>
          <a:prstGeom prst="rect">
            <a:avLst/>
          </a:prstGeom>
          <a:solidFill>
            <a:schemeClr val="accent1"/>
          </a:solidFill>
          <a:ln w="12700">
            <a:solidFill>
              <a:schemeClr val="accent1"/>
            </a:solidFill>
            <a:prstDash val="solid"/>
          </a:ln>
        </p:spPr>
      </p:sp>
      <p:sp>
        <p:nvSpPr>
          <p:cNvPr id="12" name="Text 10"/>
          <p:cNvSpPr txBox="1"/>
          <p:nvPr/>
        </p:nvSpPr>
        <p:spPr>
          <a:xfrm>
            <a:off x="6217920" y="1828800"/>
            <a:ext cx="2468880" cy="566928"/>
          </a:xfrm>
          <a:prstGeom prst="rect">
            <a:avLst/>
          </a:prstGeom>
          <a:noFill/>
          <a:ln/>
        </p:spPr>
        <p:txBody>
          <a:bodyPr wrap="square" lIns="0" tIns="0" rIns="0" bIns="0" rtlCol="0" anchor="ctr"/>
          <a:lstStyle/>
          <a:p>
            <a:pPr marL="0" indent="0">
              <a:buNone/>
            </a:pPr>
            <a:r>
              <a:rPr lang="en-US" sz="950" dirty="0">
                <a:solidFill>
                  <a:schemeClr val="tx1"/>
                </a:solidFill>
              </a:rPr>
              <a:t>Similarity analysis and repeated-substring identification</a:t>
            </a:r>
            <a:endParaRPr lang="en-US" sz="950" dirty="0"/>
          </a:p>
        </p:txBody>
      </p:sp>
      <p:sp>
        <p:nvSpPr>
          <p:cNvPr id="13" name="Shape 11"/>
          <p:cNvSpPr/>
          <p:nvPr/>
        </p:nvSpPr>
        <p:spPr>
          <a:xfrm>
            <a:off x="365760" y="2532888"/>
            <a:ext cx="2697480" cy="658368"/>
          </a:xfrm>
          <a:prstGeom prst="rect">
            <a:avLst/>
          </a:prstGeom>
          <a:solidFill>
            <a:schemeClr val="bg1"/>
          </a:solidFill>
          <a:ln w="9525">
            <a:solidFill>
              <a:srgbClr val="CBD5E1"/>
            </a:solidFill>
            <a:prstDash val="solid"/>
          </a:ln>
        </p:spPr>
      </p:sp>
      <p:sp>
        <p:nvSpPr>
          <p:cNvPr id="14" name="Shape 12"/>
          <p:cNvSpPr/>
          <p:nvPr/>
        </p:nvSpPr>
        <p:spPr>
          <a:xfrm>
            <a:off x="365760" y="2532888"/>
            <a:ext cx="54864" cy="658368"/>
          </a:xfrm>
          <a:prstGeom prst="rect">
            <a:avLst/>
          </a:prstGeom>
          <a:solidFill>
            <a:schemeClr val="accent1"/>
          </a:solidFill>
          <a:ln w="12700">
            <a:solidFill>
              <a:schemeClr val="accent1"/>
            </a:solidFill>
            <a:prstDash val="solid"/>
          </a:ln>
        </p:spPr>
      </p:sp>
      <p:sp>
        <p:nvSpPr>
          <p:cNvPr id="15" name="Text 13"/>
          <p:cNvSpPr txBox="1"/>
          <p:nvPr/>
        </p:nvSpPr>
        <p:spPr>
          <a:xfrm>
            <a:off x="502920" y="2578608"/>
            <a:ext cx="2468880" cy="566928"/>
          </a:xfrm>
          <a:prstGeom prst="rect">
            <a:avLst/>
          </a:prstGeom>
          <a:noFill/>
          <a:ln/>
        </p:spPr>
        <p:txBody>
          <a:bodyPr wrap="square" lIns="0" tIns="0" rIns="0" bIns="0" rtlCol="0" anchor="ctr"/>
          <a:lstStyle/>
          <a:p>
            <a:pPr marL="0" indent="0">
              <a:buNone/>
            </a:pPr>
            <a:r>
              <a:rPr lang="en-US" sz="950" dirty="0">
                <a:solidFill>
                  <a:schemeClr val="tx1"/>
                </a:solidFill>
              </a:rPr>
              <a:t>Passenger-capacity and train-to-platform assignment demonstrations</a:t>
            </a:r>
            <a:endParaRPr lang="en-US" sz="950" dirty="0"/>
          </a:p>
        </p:txBody>
      </p:sp>
      <p:sp>
        <p:nvSpPr>
          <p:cNvPr id="16" name="Shape 14"/>
          <p:cNvSpPr/>
          <p:nvPr/>
        </p:nvSpPr>
        <p:spPr>
          <a:xfrm>
            <a:off x="3223260" y="2532888"/>
            <a:ext cx="2697480" cy="658368"/>
          </a:xfrm>
          <a:prstGeom prst="rect">
            <a:avLst/>
          </a:prstGeom>
          <a:solidFill>
            <a:schemeClr val="bg1"/>
          </a:solidFill>
          <a:ln w="9525">
            <a:solidFill>
              <a:srgbClr val="CBD5E1"/>
            </a:solidFill>
            <a:prstDash val="solid"/>
          </a:ln>
        </p:spPr>
      </p:sp>
      <p:sp>
        <p:nvSpPr>
          <p:cNvPr id="17" name="Shape 15"/>
          <p:cNvSpPr/>
          <p:nvPr/>
        </p:nvSpPr>
        <p:spPr>
          <a:xfrm>
            <a:off x="3223260" y="2532888"/>
            <a:ext cx="54864" cy="658368"/>
          </a:xfrm>
          <a:prstGeom prst="rect">
            <a:avLst/>
          </a:prstGeom>
          <a:solidFill>
            <a:schemeClr val="accent1"/>
          </a:solidFill>
          <a:ln w="12700">
            <a:solidFill>
              <a:schemeClr val="accent1"/>
            </a:solidFill>
            <a:prstDash val="solid"/>
          </a:ln>
        </p:spPr>
      </p:sp>
      <p:sp>
        <p:nvSpPr>
          <p:cNvPr id="18" name="Text 16"/>
          <p:cNvSpPr txBox="1"/>
          <p:nvPr/>
        </p:nvSpPr>
        <p:spPr>
          <a:xfrm>
            <a:off x="3360420" y="2578608"/>
            <a:ext cx="2468880" cy="566928"/>
          </a:xfrm>
          <a:prstGeom prst="rect">
            <a:avLst/>
          </a:prstGeom>
          <a:noFill/>
          <a:ln/>
        </p:spPr>
        <p:txBody>
          <a:bodyPr wrap="square" lIns="0" tIns="0" rIns="0" bIns="0" rtlCol="0" anchor="ctr"/>
          <a:lstStyle/>
          <a:p>
            <a:pPr marL="0" indent="0">
              <a:buNone/>
            </a:pPr>
            <a:r>
              <a:rPr lang="en-US" sz="950" dirty="0">
                <a:solidFill>
                  <a:schemeClr val="tx1"/>
                </a:solidFill>
              </a:rPr>
              <a:t>Constraint satisfaction, problem reductions and approximation</a:t>
            </a:r>
            <a:endParaRPr lang="en-US" sz="950" dirty="0"/>
          </a:p>
        </p:txBody>
      </p:sp>
      <p:sp>
        <p:nvSpPr>
          <p:cNvPr id="19" name="Shape 17"/>
          <p:cNvSpPr/>
          <p:nvPr/>
        </p:nvSpPr>
        <p:spPr>
          <a:xfrm>
            <a:off x="6080760" y="2532888"/>
            <a:ext cx="2697480" cy="658368"/>
          </a:xfrm>
          <a:prstGeom prst="rect">
            <a:avLst/>
          </a:prstGeom>
          <a:solidFill>
            <a:schemeClr val="bg1"/>
          </a:solidFill>
          <a:ln w="9525">
            <a:solidFill>
              <a:srgbClr val="CBD5E1"/>
            </a:solidFill>
            <a:prstDash val="solid"/>
          </a:ln>
        </p:spPr>
      </p:sp>
      <p:sp>
        <p:nvSpPr>
          <p:cNvPr id="20" name="Shape 18"/>
          <p:cNvSpPr/>
          <p:nvPr/>
        </p:nvSpPr>
        <p:spPr>
          <a:xfrm>
            <a:off x="6080760" y="2532888"/>
            <a:ext cx="54864" cy="658368"/>
          </a:xfrm>
          <a:prstGeom prst="rect">
            <a:avLst/>
          </a:prstGeom>
          <a:solidFill>
            <a:schemeClr val="accent1"/>
          </a:solidFill>
          <a:ln w="12700">
            <a:solidFill>
              <a:schemeClr val="accent1"/>
            </a:solidFill>
            <a:prstDash val="solid"/>
          </a:ln>
        </p:spPr>
      </p:sp>
      <p:sp>
        <p:nvSpPr>
          <p:cNvPr id="21" name="Text 19"/>
          <p:cNvSpPr txBox="1"/>
          <p:nvPr/>
        </p:nvSpPr>
        <p:spPr>
          <a:xfrm>
            <a:off x="6217920" y="2578608"/>
            <a:ext cx="2468880" cy="566928"/>
          </a:xfrm>
          <a:prstGeom prst="rect">
            <a:avLst/>
          </a:prstGeom>
          <a:noFill/>
          <a:ln/>
        </p:spPr>
        <p:txBody>
          <a:bodyPr wrap="square" lIns="0" tIns="0" rIns="0" bIns="0" rtlCol="0" anchor="ctr"/>
          <a:lstStyle/>
          <a:p>
            <a:pPr marL="0" indent="0">
              <a:buNone/>
            </a:pPr>
            <a:r>
              <a:rPr lang="en-US" sz="950" dirty="0">
                <a:solidFill>
                  <a:schemeClr val="tx1"/>
                </a:solidFill>
              </a:rPr>
              <a:t>Efficient data processing through randomised and parallel algorithms</a:t>
            </a:r>
            <a:endParaRPr lang="en-US" sz="950" dirty="0"/>
          </a:p>
        </p:txBody>
      </p:sp>
      <p:sp>
        <p:nvSpPr>
          <p:cNvPr id="22" name="Text 20"/>
          <p:cNvSpPr txBox="1"/>
          <p:nvPr/>
        </p:nvSpPr>
        <p:spPr>
          <a:xfrm>
            <a:off x="365760" y="3383280"/>
            <a:ext cx="1874520" cy="502920"/>
          </a:xfrm>
          <a:prstGeom prst="roundRect">
            <a:avLst>
              <a:gd name="adj" fmla="val 14545"/>
            </a:avLst>
          </a:prstGeom>
          <a:solidFill>
            <a:schemeClr val="tx1"/>
          </a:solidFill>
          <a:ln/>
        </p:spPr>
        <p:txBody>
          <a:bodyPr wrap="square" rtlCol="0" anchor="ctr"/>
          <a:lstStyle/>
          <a:p>
            <a:pPr marL="0" indent="0" algn="ctr">
              <a:buNone/>
            </a:pPr>
            <a:r>
              <a:rPr lang="en-US" sz="1050" b="1" dirty="0">
                <a:solidFill>
                  <a:schemeClr val="bg1"/>
                </a:solidFill>
              </a:rPr>
              <a:t>Railway CSV Datasets</a:t>
            </a:r>
            <a:endParaRPr lang="en-US" sz="1050" dirty="0"/>
          </a:p>
        </p:txBody>
      </p:sp>
      <p:sp>
        <p:nvSpPr>
          <p:cNvPr id="23" name="Shape 21"/>
          <p:cNvSpPr/>
          <p:nvPr/>
        </p:nvSpPr>
        <p:spPr>
          <a:xfrm>
            <a:off x="2258568" y="3630168"/>
            <a:ext cx="265176" cy="0"/>
          </a:xfrm>
          <a:prstGeom prst="line">
            <a:avLst/>
          </a:prstGeom>
          <a:noFill/>
          <a:ln w="25400">
            <a:solidFill>
              <a:schemeClr val="accent2"/>
            </a:solidFill>
            <a:prstDash val="solid"/>
            <a:tailEnd type="triangle"/>
          </a:ln>
        </p:spPr>
      </p:sp>
      <p:sp>
        <p:nvSpPr>
          <p:cNvPr id="24" name="Text 22"/>
          <p:cNvSpPr txBox="1"/>
          <p:nvPr/>
        </p:nvSpPr>
        <p:spPr>
          <a:xfrm>
            <a:off x="2542032" y="3383280"/>
            <a:ext cx="1874520" cy="502920"/>
          </a:xfrm>
          <a:prstGeom prst="roundRect">
            <a:avLst>
              <a:gd name="adj" fmla="val 14545"/>
            </a:avLst>
          </a:prstGeom>
          <a:solidFill>
            <a:schemeClr val="tx1"/>
          </a:solidFill>
          <a:ln/>
        </p:spPr>
        <p:txBody>
          <a:bodyPr wrap="square" rtlCol="0" anchor="ctr"/>
          <a:lstStyle/>
          <a:p>
            <a:pPr marL="0" indent="0" algn="ctr">
              <a:buNone/>
            </a:pPr>
            <a:r>
              <a:rPr lang="en-US" sz="1050" b="1" dirty="0">
                <a:solidFill>
                  <a:schemeClr val="bg1"/>
                </a:solidFill>
              </a:rPr>
              <a:t>Data Loading</a:t>
            </a:r>
            <a:endParaRPr lang="en-US" sz="1050" dirty="0"/>
          </a:p>
        </p:txBody>
      </p:sp>
      <p:sp>
        <p:nvSpPr>
          <p:cNvPr id="25" name="Shape 23"/>
          <p:cNvSpPr/>
          <p:nvPr/>
        </p:nvSpPr>
        <p:spPr>
          <a:xfrm>
            <a:off x="4434840" y="3630168"/>
            <a:ext cx="265176" cy="0"/>
          </a:xfrm>
          <a:prstGeom prst="line">
            <a:avLst/>
          </a:prstGeom>
          <a:noFill/>
          <a:ln w="25400">
            <a:solidFill>
              <a:schemeClr val="accent2"/>
            </a:solidFill>
            <a:prstDash val="solid"/>
            <a:tailEnd type="triangle"/>
          </a:ln>
        </p:spPr>
      </p:sp>
      <p:sp>
        <p:nvSpPr>
          <p:cNvPr id="26" name="Text 24"/>
          <p:cNvSpPr txBox="1"/>
          <p:nvPr/>
        </p:nvSpPr>
        <p:spPr>
          <a:xfrm>
            <a:off x="4718304" y="3383280"/>
            <a:ext cx="1874520" cy="502920"/>
          </a:xfrm>
          <a:prstGeom prst="roundRect">
            <a:avLst>
              <a:gd name="adj" fmla="val 14545"/>
            </a:avLst>
          </a:prstGeom>
          <a:solidFill>
            <a:schemeClr val="accent1"/>
          </a:solidFill>
          <a:ln/>
        </p:spPr>
        <p:txBody>
          <a:bodyPr wrap="square" rtlCol="0" anchor="ctr"/>
          <a:lstStyle/>
          <a:p>
            <a:pPr marL="0" indent="0" algn="ctr">
              <a:buNone/>
            </a:pPr>
            <a:r>
              <a:rPr lang="en-US" sz="1050" b="1" dirty="0">
                <a:solidFill>
                  <a:schemeClr val="bg1"/>
                </a:solidFill>
              </a:rPr>
              <a:t>Algorithm Modules</a:t>
            </a:r>
            <a:endParaRPr lang="en-US" sz="1050" dirty="0"/>
          </a:p>
        </p:txBody>
      </p:sp>
      <p:sp>
        <p:nvSpPr>
          <p:cNvPr id="27" name="Shape 25"/>
          <p:cNvSpPr/>
          <p:nvPr/>
        </p:nvSpPr>
        <p:spPr>
          <a:xfrm>
            <a:off x="6611112" y="3630168"/>
            <a:ext cx="265176" cy="0"/>
          </a:xfrm>
          <a:prstGeom prst="line">
            <a:avLst/>
          </a:prstGeom>
          <a:noFill/>
          <a:ln w="25400">
            <a:solidFill>
              <a:schemeClr val="accent2"/>
            </a:solidFill>
            <a:prstDash val="solid"/>
            <a:tailEnd type="triangle"/>
          </a:ln>
        </p:spPr>
      </p:sp>
      <p:sp>
        <p:nvSpPr>
          <p:cNvPr id="28" name="Text 26"/>
          <p:cNvSpPr txBox="1"/>
          <p:nvPr/>
        </p:nvSpPr>
        <p:spPr>
          <a:xfrm>
            <a:off x="6894576" y="3383280"/>
            <a:ext cx="1874520" cy="502920"/>
          </a:xfrm>
          <a:prstGeom prst="roundRect">
            <a:avLst>
              <a:gd name="adj" fmla="val 14545"/>
            </a:avLst>
          </a:prstGeom>
          <a:solidFill>
            <a:schemeClr val="tx1"/>
          </a:solidFill>
          <a:ln/>
        </p:spPr>
        <p:txBody>
          <a:bodyPr wrap="square" rtlCol="0" anchor="ctr"/>
          <a:lstStyle/>
          <a:p>
            <a:pPr marL="0" indent="0" algn="ctr">
              <a:buNone/>
            </a:pPr>
            <a:r>
              <a:rPr lang="en-US" sz="1050" b="1" dirty="0">
                <a:solidFill>
                  <a:schemeClr val="bg1"/>
                </a:solidFill>
              </a:rPr>
              <a:t>Results &amp; Complexity Analysis</a:t>
            </a:r>
            <a:endParaRPr lang="en-US" sz="1050" dirty="0"/>
          </a:p>
        </p:txBody>
      </p:sp>
      <p:sp>
        <p:nvSpPr>
          <p:cNvPr id="29" name="Shape 27"/>
          <p:cNvSpPr/>
          <p:nvPr/>
        </p:nvSpPr>
        <p:spPr>
          <a:xfrm>
            <a:off x="365760" y="4114800"/>
            <a:ext cx="8412480" cy="566928"/>
          </a:xfrm>
          <a:prstGeom prst="rect">
            <a:avLst/>
          </a:prstGeom>
          <a:solidFill>
            <a:schemeClr val="bg1"/>
          </a:solidFill>
          <a:ln w="9525">
            <a:solidFill>
              <a:srgbClr val="CBD5E1"/>
            </a:solidFill>
            <a:prstDash val="solid"/>
          </a:ln>
        </p:spPr>
      </p:sp>
      <p:sp>
        <p:nvSpPr>
          <p:cNvPr id="30" name="Shape 28"/>
          <p:cNvSpPr/>
          <p:nvPr/>
        </p:nvSpPr>
        <p:spPr>
          <a:xfrm>
            <a:off x="365760" y="4114800"/>
            <a:ext cx="54864" cy="566928"/>
          </a:xfrm>
          <a:prstGeom prst="rect">
            <a:avLst/>
          </a:prstGeom>
          <a:solidFill>
            <a:schemeClr val="accent2"/>
          </a:solidFill>
          <a:ln w="12700">
            <a:solidFill>
              <a:schemeClr val="accent2"/>
            </a:solidFill>
            <a:prstDash val="solid"/>
          </a:ln>
        </p:spPr>
      </p:sp>
      <p:sp>
        <p:nvSpPr>
          <p:cNvPr id="31" name="Text 29"/>
          <p:cNvSpPr txBox="1"/>
          <p:nvPr/>
        </p:nvSpPr>
        <p:spPr>
          <a:xfrm>
            <a:off x="548640" y="4133088"/>
            <a:ext cx="8138160" cy="530352"/>
          </a:xfrm>
          <a:prstGeom prst="rect">
            <a:avLst/>
          </a:prstGeom>
          <a:noFill/>
          <a:ln/>
        </p:spPr>
        <p:txBody>
          <a:bodyPr wrap="square" lIns="0" tIns="0" rIns="0" bIns="0" rtlCol="0" anchor="ctr"/>
          <a:lstStyle/>
          <a:p>
            <a:pPr marL="0" indent="0">
              <a:buNone/>
            </a:pPr>
            <a:r>
              <a:rPr lang="en-US" sz="950" i="1" dirty="0">
                <a:solidFill>
                  <a:schemeClr val="tx1"/>
                </a:solidFill>
              </a:rPr>
              <a:t>RailSync is an academic software project and demonstration platform. It does not operate live railway infrastructure, connect to official railway systems or make real-time dispatch decisions.</a:t>
            </a:r>
            <a:endParaRPr lang="en-US" sz="950" dirty="0"/>
          </a:p>
        </p:txBody>
      </p:sp>
      <p:sp>
        <p:nvSpPr>
          <p:cNvPr id="32"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Project Objectives and System Overview</a:t>
            </a:r>
            <a:endParaRPr lang="en-US" sz="2200" dirty="0"/>
          </a:p>
        </p:txBody>
      </p:sp>
      <p:sp>
        <p:nvSpPr>
          <p:cNvPr id="3" name="Shape 1"/>
          <p:cNvSpPr/>
          <p:nvPr/>
        </p:nvSpPr>
        <p:spPr>
          <a:xfrm>
            <a:off x="365760" y="868680"/>
            <a:ext cx="4114800" cy="457200"/>
          </a:xfrm>
          <a:prstGeom prst="rect">
            <a:avLst/>
          </a:prstGeom>
          <a:solidFill>
            <a:schemeClr val="bg1"/>
          </a:solidFill>
          <a:ln w="9525">
            <a:solidFill>
              <a:srgbClr val="CBD5E1"/>
            </a:solidFill>
            <a:prstDash val="solid"/>
          </a:ln>
        </p:spPr>
      </p:sp>
      <p:sp>
        <p:nvSpPr>
          <p:cNvPr id="4" name="Text 2"/>
          <p:cNvSpPr txBox="1"/>
          <p:nvPr/>
        </p:nvSpPr>
        <p:spPr>
          <a:xfrm>
            <a:off x="457200" y="950976"/>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5" name="Text 3"/>
          <p:cNvSpPr txBox="1"/>
          <p:nvPr/>
        </p:nvSpPr>
        <p:spPr>
          <a:xfrm>
            <a:off x="868680" y="886968"/>
            <a:ext cx="3520440" cy="420624"/>
          </a:xfrm>
          <a:prstGeom prst="rect">
            <a:avLst/>
          </a:prstGeom>
          <a:noFill/>
          <a:ln/>
        </p:spPr>
        <p:txBody>
          <a:bodyPr wrap="square" lIns="0" tIns="0" rIns="0" bIns="0" rtlCol="0" anchor="ctr"/>
          <a:lstStyle/>
          <a:p>
            <a:pPr marL="0" indent="0">
              <a:buNone/>
            </a:pPr>
            <a:r>
              <a:rPr lang="en-US" sz="950" dirty="0">
                <a:solidFill>
                  <a:schemeClr val="tx1"/>
                </a:solidFill>
              </a:rPr>
              <a:t>Implement advanced algorithms in Java</a:t>
            </a:r>
            <a:endParaRPr lang="en-US" sz="950" dirty="0"/>
          </a:p>
        </p:txBody>
      </p:sp>
      <p:sp>
        <p:nvSpPr>
          <p:cNvPr id="6" name="Shape 4"/>
          <p:cNvSpPr/>
          <p:nvPr/>
        </p:nvSpPr>
        <p:spPr>
          <a:xfrm>
            <a:off x="365760" y="1399032"/>
            <a:ext cx="4114800" cy="457200"/>
          </a:xfrm>
          <a:prstGeom prst="rect">
            <a:avLst/>
          </a:prstGeom>
          <a:solidFill>
            <a:schemeClr val="bg1"/>
          </a:solidFill>
          <a:ln w="9525">
            <a:solidFill>
              <a:srgbClr val="CBD5E1"/>
            </a:solidFill>
            <a:prstDash val="solid"/>
          </a:ln>
        </p:spPr>
      </p:sp>
      <p:sp>
        <p:nvSpPr>
          <p:cNvPr id="7" name="Text 5"/>
          <p:cNvSpPr txBox="1"/>
          <p:nvPr/>
        </p:nvSpPr>
        <p:spPr>
          <a:xfrm>
            <a:off x="457200" y="1481328"/>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2</a:t>
            </a:r>
            <a:endParaRPr lang="en-US" sz="1000" dirty="0"/>
          </a:p>
        </p:txBody>
      </p:sp>
      <p:sp>
        <p:nvSpPr>
          <p:cNvPr id="8" name="Text 6"/>
          <p:cNvSpPr txBox="1"/>
          <p:nvPr/>
        </p:nvSpPr>
        <p:spPr>
          <a:xfrm>
            <a:off x="868680" y="1417320"/>
            <a:ext cx="3520440" cy="420624"/>
          </a:xfrm>
          <a:prstGeom prst="rect">
            <a:avLst/>
          </a:prstGeom>
          <a:noFill/>
          <a:ln/>
        </p:spPr>
        <p:txBody>
          <a:bodyPr wrap="square" lIns="0" tIns="0" rIns="0" bIns="0" rtlCol="0" anchor="ctr"/>
          <a:lstStyle/>
          <a:p>
            <a:pPr marL="0" indent="0">
              <a:buNone/>
            </a:pPr>
            <a:r>
              <a:rPr lang="en-US" sz="950" dirty="0">
                <a:solidFill>
                  <a:schemeClr val="tx1"/>
                </a:solidFill>
              </a:rPr>
              <a:t>Apply suitable algorithms to railway search and analytics</a:t>
            </a:r>
            <a:endParaRPr lang="en-US" sz="950" dirty="0"/>
          </a:p>
        </p:txBody>
      </p:sp>
      <p:sp>
        <p:nvSpPr>
          <p:cNvPr id="9" name="Shape 7"/>
          <p:cNvSpPr/>
          <p:nvPr/>
        </p:nvSpPr>
        <p:spPr>
          <a:xfrm>
            <a:off x="365760" y="1929384"/>
            <a:ext cx="4114800" cy="457200"/>
          </a:xfrm>
          <a:prstGeom prst="rect">
            <a:avLst/>
          </a:prstGeom>
          <a:solidFill>
            <a:schemeClr val="bg1"/>
          </a:solidFill>
          <a:ln w="9525">
            <a:solidFill>
              <a:srgbClr val="CBD5E1"/>
            </a:solidFill>
            <a:prstDash val="solid"/>
          </a:ln>
        </p:spPr>
      </p:sp>
      <p:sp>
        <p:nvSpPr>
          <p:cNvPr id="10" name="Text 8"/>
          <p:cNvSpPr txBox="1"/>
          <p:nvPr/>
        </p:nvSpPr>
        <p:spPr>
          <a:xfrm>
            <a:off x="457200" y="2011680"/>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3</a:t>
            </a:r>
            <a:endParaRPr lang="en-US" sz="1000" dirty="0"/>
          </a:p>
        </p:txBody>
      </p:sp>
      <p:sp>
        <p:nvSpPr>
          <p:cNvPr id="11" name="Text 9"/>
          <p:cNvSpPr txBox="1"/>
          <p:nvPr/>
        </p:nvSpPr>
        <p:spPr>
          <a:xfrm>
            <a:off x="868680" y="1947672"/>
            <a:ext cx="3520440" cy="420624"/>
          </a:xfrm>
          <a:prstGeom prst="rect">
            <a:avLst/>
          </a:prstGeom>
          <a:noFill/>
          <a:ln/>
        </p:spPr>
        <p:txBody>
          <a:bodyPr wrap="square" lIns="0" tIns="0" rIns="0" bIns="0" rtlCol="0" anchor="ctr"/>
          <a:lstStyle/>
          <a:p>
            <a:pPr marL="0" indent="0">
              <a:buNone/>
            </a:pPr>
            <a:r>
              <a:rPr lang="en-US" sz="950" dirty="0">
                <a:solidFill>
                  <a:schemeClr val="tx1"/>
                </a:solidFill>
              </a:rPr>
              <a:t>Demonstrate string algorithms, suffix structures and dynamic programming</a:t>
            </a:r>
            <a:endParaRPr lang="en-US" sz="950" dirty="0"/>
          </a:p>
        </p:txBody>
      </p:sp>
      <p:sp>
        <p:nvSpPr>
          <p:cNvPr id="12" name="Shape 10"/>
          <p:cNvSpPr/>
          <p:nvPr/>
        </p:nvSpPr>
        <p:spPr>
          <a:xfrm>
            <a:off x="365760" y="2459736"/>
            <a:ext cx="4114800" cy="457200"/>
          </a:xfrm>
          <a:prstGeom prst="rect">
            <a:avLst/>
          </a:prstGeom>
          <a:solidFill>
            <a:schemeClr val="bg1"/>
          </a:solidFill>
          <a:ln w="9525">
            <a:solidFill>
              <a:srgbClr val="CBD5E1"/>
            </a:solidFill>
            <a:prstDash val="solid"/>
          </a:ln>
        </p:spPr>
      </p:sp>
      <p:sp>
        <p:nvSpPr>
          <p:cNvPr id="13" name="Text 11"/>
          <p:cNvSpPr txBox="1"/>
          <p:nvPr/>
        </p:nvSpPr>
        <p:spPr>
          <a:xfrm>
            <a:off x="457200" y="2542032"/>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4</a:t>
            </a:r>
            <a:endParaRPr lang="en-US" sz="1000" dirty="0"/>
          </a:p>
        </p:txBody>
      </p:sp>
      <p:sp>
        <p:nvSpPr>
          <p:cNvPr id="14" name="Text 12"/>
          <p:cNvSpPr txBox="1"/>
          <p:nvPr/>
        </p:nvSpPr>
        <p:spPr>
          <a:xfrm>
            <a:off x="868680" y="2478024"/>
            <a:ext cx="3520440" cy="420624"/>
          </a:xfrm>
          <a:prstGeom prst="rect">
            <a:avLst/>
          </a:prstGeom>
          <a:noFill/>
          <a:ln/>
        </p:spPr>
        <p:txBody>
          <a:bodyPr wrap="square" lIns="0" tIns="0" rIns="0" bIns="0" rtlCol="0" anchor="ctr"/>
          <a:lstStyle/>
          <a:p>
            <a:pPr marL="0" indent="0">
              <a:buNone/>
            </a:pPr>
            <a:r>
              <a:rPr lang="en-US" sz="950" dirty="0">
                <a:solidFill>
                  <a:schemeClr val="tx1"/>
                </a:solidFill>
              </a:rPr>
              <a:t>Model capacity and assignment problems with graph algorithms</a:t>
            </a:r>
            <a:endParaRPr lang="en-US" sz="950" dirty="0"/>
          </a:p>
        </p:txBody>
      </p:sp>
      <p:sp>
        <p:nvSpPr>
          <p:cNvPr id="15" name="Shape 13"/>
          <p:cNvSpPr/>
          <p:nvPr/>
        </p:nvSpPr>
        <p:spPr>
          <a:xfrm>
            <a:off x="4663440" y="868680"/>
            <a:ext cx="4114800" cy="457200"/>
          </a:xfrm>
          <a:prstGeom prst="rect">
            <a:avLst/>
          </a:prstGeom>
          <a:solidFill>
            <a:schemeClr val="bg1"/>
          </a:solidFill>
          <a:ln w="9525">
            <a:solidFill>
              <a:srgbClr val="CBD5E1"/>
            </a:solidFill>
            <a:prstDash val="solid"/>
          </a:ln>
        </p:spPr>
      </p:sp>
      <p:sp>
        <p:nvSpPr>
          <p:cNvPr id="16" name="Text 14"/>
          <p:cNvSpPr txBox="1"/>
          <p:nvPr/>
        </p:nvSpPr>
        <p:spPr>
          <a:xfrm>
            <a:off x="4754880" y="950976"/>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5</a:t>
            </a:r>
            <a:endParaRPr lang="en-US" sz="1000" dirty="0"/>
          </a:p>
        </p:txBody>
      </p:sp>
      <p:sp>
        <p:nvSpPr>
          <p:cNvPr id="17" name="Text 15"/>
          <p:cNvSpPr txBox="1"/>
          <p:nvPr/>
        </p:nvSpPr>
        <p:spPr>
          <a:xfrm>
            <a:off x="5166360" y="886968"/>
            <a:ext cx="3520440" cy="420624"/>
          </a:xfrm>
          <a:prstGeom prst="rect">
            <a:avLst/>
          </a:prstGeom>
          <a:noFill/>
          <a:ln/>
        </p:spPr>
        <p:txBody>
          <a:bodyPr wrap="square" lIns="0" tIns="0" rIns="0" bIns="0" rtlCol="0" anchor="ctr"/>
          <a:lstStyle/>
          <a:p>
            <a:pPr marL="0" indent="0">
              <a:buNone/>
            </a:pPr>
            <a:r>
              <a:rPr lang="en-US" sz="950" dirty="0">
                <a:solidFill>
                  <a:schemeClr val="tx1"/>
                </a:solidFill>
              </a:rPr>
              <a:t>Explore NP-completeness, reductions and approximation</a:t>
            </a:r>
            <a:endParaRPr lang="en-US" sz="950" dirty="0"/>
          </a:p>
        </p:txBody>
      </p:sp>
      <p:sp>
        <p:nvSpPr>
          <p:cNvPr id="18" name="Shape 16"/>
          <p:cNvSpPr/>
          <p:nvPr/>
        </p:nvSpPr>
        <p:spPr>
          <a:xfrm>
            <a:off x="4663440" y="1399032"/>
            <a:ext cx="4114800" cy="457200"/>
          </a:xfrm>
          <a:prstGeom prst="rect">
            <a:avLst/>
          </a:prstGeom>
          <a:solidFill>
            <a:schemeClr val="bg1"/>
          </a:solidFill>
          <a:ln w="9525">
            <a:solidFill>
              <a:srgbClr val="CBD5E1"/>
            </a:solidFill>
            <a:prstDash val="solid"/>
          </a:ln>
        </p:spPr>
      </p:sp>
      <p:sp>
        <p:nvSpPr>
          <p:cNvPr id="19" name="Text 17"/>
          <p:cNvSpPr txBox="1"/>
          <p:nvPr/>
        </p:nvSpPr>
        <p:spPr>
          <a:xfrm>
            <a:off x="4754880" y="1481328"/>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6</a:t>
            </a:r>
            <a:endParaRPr lang="en-US" sz="1000" dirty="0"/>
          </a:p>
        </p:txBody>
      </p:sp>
      <p:sp>
        <p:nvSpPr>
          <p:cNvPr id="20" name="Text 18"/>
          <p:cNvSpPr txBox="1"/>
          <p:nvPr/>
        </p:nvSpPr>
        <p:spPr>
          <a:xfrm>
            <a:off x="5166360" y="1417320"/>
            <a:ext cx="3520440" cy="420624"/>
          </a:xfrm>
          <a:prstGeom prst="rect">
            <a:avLst/>
          </a:prstGeom>
          <a:noFill/>
          <a:ln/>
        </p:spPr>
        <p:txBody>
          <a:bodyPr wrap="square" lIns="0" tIns="0" rIns="0" bIns="0" rtlCol="0" anchor="ctr"/>
          <a:lstStyle/>
          <a:p>
            <a:pPr marL="0" indent="0">
              <a:buNone/>
            </a:pPr>
            <a:r>
              <a:rPr lang="en-US" sz="950" dirty="0">
                <a:solidFill>
                  <a:schemeClr val="tx1"/>
                </a:solidFill>
              </a:rPr>
              <a:t>Demonstrate randomised, streaming-sampling and parallel algorithms</a:t>
            </a:r>
            <a:endParaRPr lang="en-US" sz="950" dirty="0"/>
          </a:p>
        </p:txBody>
      </p:sp>
      <p:sp>
        <p:nvSpPr>
          <p:cNvPr id="21" name="Shape 19"/>
          <p:cNvSpPr/>
          <p:nvPr/>
        </p:nvSpPr>
        <p:spPr>
          <a:xfrm>
            <a:off x="4663440" y="1929384"/>
            <a:ext cx="4114800" cy="457200"/>
          </a:xfrm>
          <a:prstGeom prst="rect">
            <a:avLst/>
          </a:prstGeom>
          <a:solidFill>
            <a:schemeClr val="bg1"/>
          </a:solidFill>
          <a:ln w="9525">
            <a:solidFill>
              <a:srgbClr val="CBD5E1"/>
            </a:solidFill>
            <a:prstDash val="solid"/>
          </a:ln>
        </p:spPr>
      </p:sp>
      <p:sp>
        <p:nvSpPr>
          <p:cNvPr id="22" name="Text 20"/>
          <p:cNvSpPr txBox="1"/>
          <p:nvPr/>
        </p:nvSpPr>
        <p:spPr>
          <a:xfrm>
            <a:off x="4754880" y="2011680"/>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7</a:t>
            </a:r>
            <a:endParaRPr lang="en-US" sz="1000" dirty="0"/>
          </a:p>
        </p:txBody>
      </p:sp>
      <p:sp>
        <p:nvSpPr>
          <p:cNvPr id="23" name="Text 21"/>
          <p:cNvSpPr txBox="1"/>
          <p:nvPr/>
        </p:nvSpPr>
        <p:spPr>
          <a:xfrm>
            <a:off x="5166360" y="1947672"/>
            <a:ext cx="3520440" cy="420624"/>
          </a:xfrm>
          <a:prstGeom prst="rect">
            <a:avLst/>
          </a:prstGeom>
          <a:noFill/>
          <a:ln/>
        </p:spPr>
        <p:txBody>
          <a:bodyPr wrap="square" lIns="0" tIns="0" rIns="0" bIns="0" rtlCol="0" anchor="ctr"/>
          <a:lstStyle/>
          <a:p>
            <a:pPr marL="0" indent="0">
              <a:buNone/>
            </a:pPr>
            <a:r>
              <a:rPr lang="en-US" sz="950" dirty="0">
                <a:solidFill>
                  <a:schemeClr val="tx1"/>
                </a:solidFill>
              </a:rPr>
              <a:t>Analyse algorithmic time and space complexity</a:t>
            </a:r>
            <a:endParaRPr lang="en-US" sz="950" dirty="0"/>
          </a:p>
        </p:txBody>
      </p:sp>
      <p:sp>
        <p:nvSpPr>
          <p:cNvPr id="24" name="Shape 22"/>
          <p:cNvSpPr/>
          <p:nvPr/>
        </p:nvSpPr>
        <p:spPr>
          <a:xfrm>
            <a:off x="4663440" y="2459736"/>
            <a:ext cx="4114800" cy="457200"/>
          </a:xfrm>
          <a:prstGeom prst="rect">
            <a:avLst/>
          </a:prstGeom>
          <a:solidFill>
            <a:schemeClr val="bg1"/>
          </a:solidFill>
          <a:ln w="9525">
            <a:solidFill>
              <a:srgbClr val="CBD5E1"/>
            </a:solidFill>
            <a:prstDash val="solid"/>
          </a:ln>
        </p:spPr>
      </p:sp>
      <p:sp>
        <p:nvSpPr>
          <p:cNvPr id="25" name="Text 23"/>
          <p:cNvSpPr txBox="1"/>
          <p:nvPr/>
        </p:nvSpPr>
        <p:spPr>
          <a:xfrm>
            <a:off x="4754880" y="2542032"/>
            <a:ext cx="292608" cy="292608"/>
          </a:xfrm>
          <a:prstGeom prst="ellipse">
            <a:avLst/>
          </a:prstGeom>
          <a:solidFill>
            <a:schemeClr val="accent1"/>
          </a:solidFill>
          <a:ln/>
        </p:spPr>
        <p:txBody>
          <a:bodyPr wrap="square" lIns="0" tIns="0" rIns="0" bIns="0" rtlCol="0" anchor="ctr"/>
          <a:lstStyle/>
          <a:p>
            <a:pPr marL="0" indent="0" algn="ctr">
              <a:buNone/>
            </a:pPr>
            <a:r>
              <a:rPr lang="en-US" sz="1000" b="1" dirty="0">
                <a:solidFill>
                  <a:schemeClr val="bg1"/>
                </a:solidFill>
              </a:rPr>
              <a:t>8</a:t>
            </a:r>
            <a:endParaRPr lang="en-US" sz="1000" dirty="0"/>
          </a:p>
        </p:txBody>
      </p:sp>
      <p:sp>
        <p:nvSpPr>
          <p:cNvPr id="26" name="Text 24"/>
          <p:cNvSpPr txBox="1"/>
          <p:nvPr/>
        </p:nvSpPr>
        <p:spPr>
          <a:xfrm>
            <a:off x="5166360" y="2478024"/>
            <a:ext cx="3520440" cy="420624"/>
          </a:xfrm>
          <a:prstGeom prst="rect">
            <a:avLst/>
          </a:prstGeom>
          <a:noFill/>
          <a:ln/>
        </p:spPr>
        <p:txBody>
          <a:bodyPr wrap="square" lIns="0" tIns="0" rIns="0" bIns="0" rtlCol="0" anchor="ctr"/>
          <a:lstStyle/>
          <a:p>
            <a:pPr marL="0" indent="0">
              <a:buNone/>
            </a:pPr>
            <a:r>
              <a:rPr lang="en-US" sz="950" dirty="0">
                <a:solidFill>
                  <a:schemeClr val="tx1"/>
                </a:solidFill>
              </a:rPr>
              <a:t>Provide a command-line interface to explore the algorithms</a:t>
            </a:r>
            <a:endParaRPr lang="en-US" sz="950" dirty="0"/>
          </a:p>
        </p:txBody>
      </p:sp>
      <p:sp>
        <p:nvSpPr>
          <p:cNvPr id="27" name="Text 25"/>
          <p:cNvSpPr txBox="1"/>
          <p:nvPr/>
        </p:nvSpPr>
        <p:spPr>
          <a:xfrm>
            <a:off x="365760" y="3017520"/>
            <a:ext cx="4572000" cy="228600"/>
          </a:xfrm>
          <a:prstGeom prst="rect">
            <a:avLst/>
          </a:prstGeom>
          <a:noFill/>
          <a:ln/>
        </p:spPr>
        <p:txBody>
          <a:bodyPr wrap="square" lIns="0" tIns="0" rIns="0" bIns="0" rtlCol="0" anchor="t"/>
          <a:lstStyle/>
          <a:p>
            <a:pPr marL="0" indent="0">
              <a:buNone/>
            </a:pPr>
            <a:r>
              <a:rPr lang="en-US" sz="1100" b="1" dirty="0">
                <a:solidFill>
                  <a:schemeClr val="accent1"/>
                </a:solidFill>
              </a:rPr>
              <a:t>High-level architecture</a:t>
            </a:r>
            <a:endParaRPr lang="en-US" sz="1100" dirty="0"/>
          </a:p>
        </p:txBody>
      </p:sp>
      <p:sp>
        <p:nvSpPr>
          <p:cNvPr id="28" name="Shape 26"/>
          <p:cNvSpPr/>
          <p:nvPr/>
        </p:nvSpPr>
        <p:spPr>
          <a:xfrm>
            <a:off x="365760" y="3291840"/>
            <a:ext cx="1463040" cy="868680"/>
          </a:xfrm>
          <a:prstGeom prst="rect">
            <a:avLst/>
          </a:prstGeom>
          <a:solidFill>
            <a:schemeClr val="tx1"/>
          </a:solidFill>
          <a:ln w="12700">
            <a:solidFill>
              <a:schemeClr val="tx1"/>
            </a:solidFill>
            <a:prstDash val="solid"/>
          </a:ln>
        </p:spPr>
      </p:sp>
      <p:sp>
        <p:nvSpPr>
          <p:cNvPr id="29" name="Text 27"/>
          <p:cNvSpPr txBox="1"/>
          <p:nvPr/>
        </p:nvSpPr>
        <p:spPr>
          <a:xfrm>
            <a:off x="429768" y="3337560"/>
            <a:ext cx="1335024" cy="777240"/>
          </a:xfrm>
          <a:prstGeom prst="rect">
            <a:avLst/>
          </a:prstGeom>
          <a:noFill/>
          <a:ln/>
        </p:spPr>
        <p:txBody>
          <a:bodyPr wrap="square" lIns="0" tIns="0" rIns="0" bIns="0" rtlCol="0" anchor="ctr"/>
          <a:lstStyle/>
          <a:p>
            <a:pPr marL="0" indent="0" algn="ctr">
              <a:buNone/>
            </a:pPr>
            <a:r>
              <a:rPr lang="en-US" sz="950" b="1" dirty="0">
                <a:solidFill>
                  <a:schemeClr val="bg1"/>
                </a:solidFill>
              </a:rPr>
              <a:t>Main CLI</a:t>
            </a:r>
            <a:endParaRPr lang="en-US" sz="950" dirty="0"/>
          </a:p>
          <a:p>
            <a:pPr marL="0" indent="0" algn="ctr">
              <a:buNone/>
            </a:pPr>
            <a:r>
              <a:rPr lang="en-US" sz="750" dirty="0">
                <a:solidFill>
                  <a:schemeClr val="bg1"/>
                </a:solidFill>
              </a:rPr>
              <a:t>com.railsync.Main</a:t>
            </a:r>
            <a:endParaRPr lang="en-US" sz="950" dirty="0"/>
          </a:p>
        </p:txBody>
      </p:sp>
      <p:sp>
        <p:nvSpPr>
          <p:cNvPr id="30" name="Shape 28"/>
          <p:cNvSpPr/>
          <p:nvPr/>
        </p:nvSpPr>
        <p:spPr>
          <a:xfrm>
            <a:off x="1847088" y="3721608"/>
            <a:ext cx="237744" cy="0"/>
          </a:xfrm>
          <a:prstGeom prst="line">
            <a:avLst/>
          </a:prstGeom>
          <a:noFill/>
          <a:ln w="25400">
            <a:solidFill>
              <a:schemeClr val="accent2"/>
            </a:solidFill>
            <a:prstDash val="solid"/>
            <a:tailEnd type="triangle"/>
          </a:ln>
        </p:spPr>
      </p:sp>
      <p:sp>
        <p:nvSpPr>
          <p:cNvPr id="31" name="Shape 29"/>
          <p:cNvSpPr/>
          <p:nvPr/>
        </p:nvSpPr>
        <p:spPr>
          <a:xfrm>
            <a:off x="2103120" y="3291840"/>
            <a:ext cx="1463040" cy="868680"/>
          </a:xfrm>
          <a:prstGeom prst="rect">
            <a:avLst/>
          </a:prstGeom>
          <a:solidFill>
            <a:schemeClr val="tx1"/>
          </a:solidFill>
          <a:ln w="12700">
            <a:solidFill>
              <a:schemeClr val="tx1"/>
            </a:solidFill>
            <a:prstDash val="solid"/>
          </a:ln>
        </p:spPr>
      </p:sp>
      <p:sp>
        <p:nvSpPr>
          <p:cNvPr id="32" name="Text 30"/>
          <p:cNvSpPr txBox="1"/>
          <p:nvPr/>
        </p:nvSpPr>
        <p:spPr>
          <a:xfrm>
            <a:off x="2167128" y="3337560"/>
            <a:ext cx="1335024" cy="777240"/>
          </a:xfrm>
          <a:prstGeom prst="rect">
            <a:avLst/>
          </a:prstGeom>
          <a:noFill/>
          <a:ln/>
        </p:spPr>
        <p:txBody>
          <a:bodyPr wrap="square" lIns="0" tIns="0" rIns="0" bIns="0" rtlCol="0" anchor="ctr"/>
          <a:lstStyle/>
          <a:p>
            <a:pPr marL="0" indent="0" algn="ctr">
              <a:buNone/>
            </a:pPr>
            <a:r>
              <a:rPr lang="en-US" sz="950" b="1" dirty="0">
                <a:solidFill>
                  <a:schemeClr val="bg1"/>
                </a:solidFill>
              </a:rPr>
              <a:t>Railway Data Loader</a:t>
            </a:r>
            <a:endParaRPr lang="en-US" sz="950" dirty="0"/>
          </a:p>
          <a:p>
            <a:pPr marL="0" indent="0" algn="ctr">
              <a:buNone/>
            </a:pPr>
            <a:r>
              <a:rPr lang="en-US" sz="750" dirty="0">
                <a:solidFill>
                  <a:schemeClr val="bg1"/>
                </a:solidFill>
              </a:rPr>
              <a:t>RailwayData · 5 CSV files</a:t>
            </a:r>
            <a:endParaRPr lang="en-US" sz="950" dirty="0"/>
          </a:p>
        </p:txBody>
      </p:sp>
      <p:sp>
        <p:nvSpPr>
          <p:cNvPr id="33" name="Shape 31"/>
          <p:cNvSpPr/>
          <p:nvPr/>
        </p:nvSpPr>
        <p:spPr>
          <a:xfrm>
            <a:off x="3584448" y="3721608"/>
            <a:ext cx="237744" cy="0"/>
          </a:xfrm>
          <a:prstGeom prst="line">
            <a:avLst/>
          </a:prstGeom>
          <a:noFill/>
          <a:ln w="25400">
            <a:solidFill>
              <a:schemeClr val="accent2"/>
            </a:solidFill>
            <a:prstDash val="solid"/>
            <a:tailEnd type="triangle"/>
          </a:ln>
        </p:spPr>
      </p:sp>
      <p:sp>
        <p:nvSpPr>
          <p:cNvPr id="34" name="Shape 32"/>
          <p:cNvSpPr/>
          <p:nvPr/>
        </p:nvSpPr>
        <p:spPr>
          <a:xfrm>
            <a:off x="3840480" y="3291840"/>
            <a:ext cx="1463040" cy="868680"/>
          </a:xfrm>
          <a:prstGeom prst="rect">
            <a:avLst/>
          </a:prstGeom>
          <a:solidFill>
            <a:schemeClr val="tx1"/>
          </a:solidFill>
          <a:ln w="12700">
            <a:solidFill>
              <a:schemeClr val="tx1"/>
            </a:solidFill>
            <a:prstDash val="solid"/>
          </a:ln>
        </p:spPr>
      </p:sp>
      <p:sp>
        <p:nvSpPr>
          <p:cNvPr id="35" name="Text 33"/>
          <p:cNvSpPr txBox="1"/>
          <p:nvPr/>
        </p:nvSpPr>
        <p:spPr>
          <a:xfrm>
            <a:off x="3904488" y="3337560"/>
            <a:ext cx="1335024" cy="777240"/>
          </a:xfrm>
          <a:prstGeom prst="rect">
            <a:avLst/>
          </a:prstGeom>
          <a:noFill/>
          <a:ln/>
        </p:spPr>
        <p:txBody>
          <a:bodyPr wrap="square" lIns="0" tIns="0" rIns="0" bIns="0" rtlCol="0" anchor="ctr"/>
          <a:lstStyle/>
          <a:p>
            <a:pPr marL="0" indent="0" algn="ctr">
              <a:buNone/>
            </a:pPr>
            <a:r>
              <a:rPr lang="en-US" sz="950" b="1" dirty="0">
                <a:solidFill>
                  <a:schemeClr val="bg1"/>
                </a:solidFill>
              </a:rPr>
              <a:t>Domain Models</a:t>
            </a:r>
            <a:endParaRPr lang="en-US" sz="950" dirty="0"/>
          </a:p>
          <a:p>
            <a:pPr marL="0" indent="0" algn="ctr">
              <a:buNone/>
            </a:pPr>
            <a:r>
              <a:rPr lang="en-US" sz="750" dirty="0">
                <a:solidFill>
                  <a:schemeClr val="bg1"/>
                </a:solidFill>
              </a:rPr>
              <a:t>Passenger, Service, Station, Ticket, Train</a:t>
            </a:r>
            <a:endParaRPr lang="en-US" sz="950" dirty="0"/>
          </a:p>
        </p:txBody>
      </p:sp>
      <p:sp>
        <p:nvSpPr>
          <p:cNvPr id="36" name="Shape 34"/>
          <p:cNvSpPr/>
          <p:nvPr/>
        </p:nvSpPr>
        <p:spPr>
          <a:xfrm>
            <a:off x="5321808" y="3721608"/>
            <a:ext cx="237744" cy="0"/>
          </a:xfrm>
          <a:prstGeom prst="line">
            <a:avLst/>
          </a:prstGeom>
          <a:noFill/>
          <a:ln w="25400">
            <a:solidFill>
              <a:schemeClr val="accent2"/>
            </a:solidFill>
            <a:prstDash val="solid"/>
            <a:tailEnd type="triangle"/>
          </a:ln>
        </p:spPr>
      </p:sp>
      <p:sp>
        <p:nvSpPr>
          <p:cNvPr id="37" name="Shape 35"/>
          <p:cNvSpPr/>
          <p:nvPr/>
        </p:nvSpPr>
        <p:spPr>
          <a:xfrm>
            <a:off x="5577840" y="3291840"/>
            <a:ext cx="1463040" cy="868680"/>
          </a:xfrm>
          <a:prstGeom prst="rect">
            <a:avLst/>
          </a:prstGeom>
          <a:solidFill>
            <a:schemeClr val="accent1"/>
          </a:solidFill>
          <a:ln w="12700">
            <a:solidFill>
              <a:schemeClr val="tx1"/>
            </a:solidFill>
            <a:prstDash val="solid"/>
          </a:ln>
        </p:spPr>
      </p:sp>
      <p:sp>
        <p:nvSpPr>
          <p:cNvPr id="38" name="Text 36"/>
          <p:cNvSpPr txBox="1"/>
          <p:nvPr/>
        </p:nvSpPr>
        <p:spPr>
          <a:xfrm>
            <a:off x="5641848" y="3337560"/>
            <a:ext cx="1335024" cy="777240"/>
          </a:xfrm>
          <a:prstGeom prst="rect">
            <a:avLst/>
          </a:prstGeom>
          <a:noFill/>
          <a:ln/>
        </p:spPr>
        <p:txBody>
          <a:bodyPr wrap="square" lIns="0" tIns="0" rIns="0" bIns="0" rtlCol="0" anchor="ctr"/>
          <a:lstStyle/>
          <a:p>
            <a:pPr marL="0" indent="0" algn="ctr">
              <a:buNone/>
            </a:pPr>
            <a:r>
              <a:rPr lang="en-US" sz="950" b="1" dirty="0">
                <a:solidFill>
                  <a:schemeClr val="bg1"/>
                </a:solidFill>
              </a:rPr>
              <a:t>Six Algorithm Modules</a:t>
            </a:r>
            <a:endParaRPr lang="en-US" sz="950" dirty="0"/>
          </a:p>
          <a:p>
            <a:pPr marL="0" indent="0" algn="ctr">
              <a:buNone/>
            </a:pPr>
            <a:r>
              <a:rPr lang="en-US" sz="750" dirty="0">
                <a:solidFill>
                  <a:schemeClr val="bg1"/>
                </a:solidFill>
              </a:rPr>
              <a:t>string · suffix · dp · flow · np · randomparallel</a:t>
            </a:r>
            <a:endParaRPr lang="en-US" sz="950" dirty="0"/>
          </a:p>
        </p:txBody>
      </p:sp>
      <p:sp>
        <p:nvSpPr>
          <p:cNvPr id="39" name="Shape 37"/>
          <p:cNvSpPr/>
          <p:nvPr/>
        </p:nvSpPr>
        <p:spPr>
          <a:xfrm>
            <a:off x="7059168" y="3721608"/>
            <a:ext cx="237744" cy="0"/>
          </a:xfrm>
          <a:prstGeom prst="line">
            <a:avLst/>
          </a:prstGeom>
          <a:noFill/>
          <a:ln w="25400">
            <a:solidFill>
              <a:schemeClr val="accent2"/>
            </a:solidFill>
            <a:prstDash val="solid"/>
            <a:tailEnd type="triangle"/>
          </a:ln>
        </p:spPr>
      </p:sp>
      <p:sp>
        <p:nvSpPr>
          <p:cNvPr id="40" name="Shape 38"/>
          <p:cNvSpPr/>
          <p:nvPr/>
        </p:nvSpPr>
        <p:spPr>
          <a:xfrm>
            <a:off x="7315200" y="3291840"/>
            <a:ext cx="1463040" cy="868680"/>
          </a:xfrm>
          <a:prstGeom prst="rect">
            <a:avLst/>
          </a:prstGeom>
          <a:solidFill>
            <a:schemeClr val="tx1"/>
          </a:solidFill>
          <a:ln w="12700">
            <a:solidFill>
              <a:schemeClr val="tx1"/>
            </a:solidFill>
            <a:prstDash val="solid"/>
          </a:ln>
        </p:spPr>
      </p:sp>
      <p:sp>
        <p:nvSpPr>
          <p:cNvPr id="41" name="Text 39"/>
          <p:cNvSpPr txBox="1"/>
          <p:nvPr/>
        </p:nvSpPr>
        <p:spPr>
          <a:xfrm>
            <a:off x="7379208" y="3337560"/>
            <a:ext cx="1335024" cy="777240"/>
          </a:xfrm>
          <a:prstGeom prst="rect">
            <a:avLst/>
          </a:prstGeom>
          <a:noFill/>
          <a:ln/>
        </p:spPr>
        <p:txBody>
          <a:bodyPr wrap="square" lIns="0" tIns="0" rIns="0" bIns="0" rtlCol="0" anchor="ctr"/>
          <a:lstStyle/>
          <a:p>
            <a:pPr marL="0" indent="0" algn="ctr">
              <a:buNone/>
            </a:pPr>
            <a:r>
              <a:rPr lang="en-US" sz="950" b="1" dirty="0">
                <a:solidFill>
                  <a:schemeClr val="bg1"/>
                </a:solidFill>
              </a:rPr>
              <a:t>Results &amp; Analysis</a:t>
            </a:r>
            <a:endParaRPr lang="en-US" sz="950" dirty="0"/>
          </a:p>
          <a:p>
            <a:pPr marL="0" indent="0" algn="ctr">
              <a:buNone/>
            </a:pPr>
            <a:r>
              <a:rPr lang="en-US" sz="750" dirty="0">
                <a:solidFill>
                  <a:schemeClr val="bg1"/>
                </a:solidFill>
              </a:rPr>
              <a:t>AlgorithmAnalysis: complexity and algorithm selection</a:t>
            </a:r>
            <a:endParaRPr lang="en-US" sz="950" dirty="0"/>
          </a:p>
        </p:txBody>
      </p:sp>
      <p:sp>
        <p:nvSpPr>
          <p:cNvPr id="42" name="Text 40"/>
          <p:cNvSpPr txBox="1"/>
          <p:nvPr/>
        </p:nvSpPr>
        <p:spPr>
          <a:xfrm>
            <a:off x="365760" y="4315968"/>
            <a:ext cx="8412480" cy="365760"/>
          </a:xfrm>
          <a:prstGeom prst="rect">
            <a:avLst/>
          </a:prstGeom>
          <a:noFill/>
          <a:ln/>
        </p:spPr>
        <p:txBody>
          <a:bodyPr wrap="square" lIns="0" tIns="0" rIns="0" bIns="0" rtlCol="0" anchor="t"/>
          <a:lstStyle/>
          <a:p>
            <a:pPr marL="0" indent="0">
              <a:buNone/>
            </a:pPr>
            <a:r>
              <a:rPr lang="en-US" sz="950" b="1" dirty="0">
                <a:solidFill>
                  <a:schemeClr val="tx1"/>
                </a:solidFill>
              </a:rPr>
              <a:t>Data: </a:t>
            </a:r>
            <a:r>
              <a:rPr lang="en-US" sz="950" dirty="0">
                <a:solidFill>
                  <a:schemeClr val="tx1"/>
                </a:solidFill>
              </a:rPr>
              <a:t>passengers, services, stations, tickets and trains CSV files.  </a:t>
            </a:r>
            <a:r>
              <a:rPr lang="en-US" sz="950" b="1" dirty="0">
                <a:solidFill>
                  <a:schemeClr val="tx1"/>
                </a:solidFill>
              </a:rPr>
              <a:t>Verification: </a:t>
            </a:r>
            <a:r>
              <a:rPr lang="en-US" sz="950" dirty="0">
                <a:solidFill>
                  <a:schemeClr val="tx1"/>
                </a:solidFill>
              </a:rPr>
              <a:t>RailSyncVerification, an automated verification suite.</a:t>
            </a:r>
            <a:endParaRPr lang="en-US" sz="950" dirty="0"/>
          </a:p>
        </p:txBody>
      </p:sp>
      <p:sp>
        <p:nvSpPr>
          <p:cNvPr id="4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Module 1 — String Algorithms</a:t>
            </a:r>
            <a:endParaRPr lang="en-US" sz="2200" dirty="0"/>
          </a:p>
        </p:txBody>
      </p:sp>
      <p:sp>
        <p:nvSpPr>
          <p:cNvPr id="3" name="Text 1"/>
          <p:cNvSpPr txBox="1"/>
          <p:nvPr/>
        </p:nvSpPr>
        <p:spPr>
          <a:xfrm>
            <a:off x="365760" y="749808"/>
            <a:ext cx="8412480" cy="411480"/>
          </a:xfrm>
          <a:prstGeom prst="rect">
            <a:avLst/>
          </a:prstGeom>
          <a:noFill/>
          <a:ln/>
        </p:spPr>
        <p:txBody>
          <a:bodyPr wrap="square" lIns="0" tIns="0" rIns="0" bIns="0" rtlCol="0" anchor="t"/>
          <a:lstStyle/>
          <a:p>
            <a:pPr marL="0" indent="0">
              <a:buNone/>
            </a:pPr>
            <a:r>
              <a:rPr lang="en-US" sz="1050" b="1" dirty="0">
                <a:solidFill>
                  <a:schemeClr val="accent1"/>
                </a:solidFill>
              </a:rPr>
              <a:t>Problem addressed: </a:t>
            </a:r>
            <a:r>
              <a:rPr lang="en-US" sz="1050" dirty="0">
                <a:solidFill>
                  <a:schemeClr val="tx1"/>
                </a:solidFill>
              </a:rPr>
              <a:t>Finding matching text efficiently in railway records and detecting multiple keywords in operational descriptions.</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7607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 in RailSync</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Time complexity</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Naive Search</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Baseline search for matching train names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 worst case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KMP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Search train numbers, station names and service alerts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Z-Function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Pattern matching and repeated-pattern analysis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Rabin–Karp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Search ticket and booking identifiers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Expected O(n+m), worst O(nm)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Trie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Prefix lookup and autocomplete demonstrations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O(m) lookup for a key of length m, excluding output</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Aho–Corasick</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Detect multiple alert keywords in service descriptions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O(L+n+z) under standard assumptions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4" name="Text 2"/>
          <p:cNvSpPr txBox="1"/>
          <p:nvPr/>
        </p:nvSpPr>
        <p:spPr>
          <a:xfrm>
            <a:off x="365760" y="4160520"/>
            <a:ext cx="5760720" cy="594360"/>
          </a:xfrm>
          <a:prstGeom prst="rect">
            <a:avLst/>
          </a:prstGeom>
          <a:noFill/>
          <a:ln/>
        </p:spPr>
        <p:txBody>
          <a:bodyPr wrap="square" lIns="0" tIns="0" rIns="0" bIns="0" rtlCol="0" anchor="t"/>
          <a:lstStyle/>
          <a:p>
            <a:pPr marL="0" indent="0">
              <a:buNone/>
            </a:pPr>
            <a:r>
              <a:rPr lang="en-US" sz="800" dirty="0">
                <a:solidFill>
                  <a:schemeClr val="tx2"/>
                </a:solidFill>
              </a:rPr>
              <a:t>n = text length, m = pattern length, L = total length of all patterns, z = number of matches. Space (auxiliary): KMP O(m); Z-function O(n+m); Trie proportional to total stored characters.</a:t>
            </a:r>
            <a:endParaRPr lang="en-US" sz="800" dirty="0"/>
          </a:p>
        </p:txBody>
      </p:sp>
      <p:sp>
        <p:nvSpPr>
          <p:cNvPr id="6" name="Shape 3"/>
          <p:cNvSpPr/>
          <p:nvPr/>
        </p:nvSpPr>
        <p:spPr>
          <a:xfrm>
            <a:off x="6355080" y="1261872"/>
            <a:ext cx="2423160" cy="1600200"/>
          </a:xfrm>
          <a:prstGeom prst="rect">
            <a:avLst/>
          </a:prstGeom>
          <a:solidFill>
            <a:schemeClr val="bg1"/>
          </a:solidFill>
          <a:ln w="9525">
            <a:solidFill>
              <a:srgbClr val="CBD5E1"/>
            </a:solidFill>
            <a:prstDash val="solid"/>
          </a:ln>
        </p:spPr>
      </p:sp>
      <p:sp>
        <p:nvSpPr>
          <p:cNvPr id="7" name="Shape 4"/>
          <p:cNvSpPr/>
          <p:nvPr/>
        </p:nvSpPr>
        <p:spPr>
          <a:xfrm>
            <a:off x="6355080" y="1261872"/>
            <a:ext cx="54864" cy="1600200"/>
          </a:xfrm>
          <a:prstGeom prst="rect">
            <a:avLst/>
          </a:prstGeom>
          <a:solidFill>
            <a:schemeClr val="accent1"/>
          </a:solidFill>
          <a:ln w="12700">
            <a:solidFill>
              <a:schemeClr val="accent1"/>
            </a:solidFill>
            <a:prstDash val="solid"/>
          </a:ln>
        </p:spPr>
      </p:sp>
      <p:sp>
        <p:nvSpPr>
          <p:cNvPr id="8" name="Text 5"/>
          <p:cNvSpPr txBox="1"/>
          <p:nvPr/>
        </p:nvSpPr>
        <p:spPr>
          <a:xfrm>
            <a:off x="6492240" y="1325880"/>
            <a:ext cx="2194560" cy="201168"/>
          </a:xfrm>
          <a:prstGeom prst="rect">
            <a:avLst/>
          </a:prstGeom>
          <a:noFill/>
          <a:ln/>
        </p:spPr>
        <p:txBody>
          <a:bodyPr wrap="square" lIns="0" tIns="0" rIns="0" bIns="0" rtlCol="0" anchor="t"/>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6492240" y="1536192"/>
            <a:ext cx="2212848" cy="1298448"/>
          </a:xfrm>
          <a:prstGeom prst="rect">
            <a:avLst/>
          </a:prstGeom>
          <a:noFill/>
          <a:ln/>
        </p:spPr>
        <p:txBody>
          <a:bodyPr wrap="square" lIns="0" tIns="0" rIns="0" bIns="0" rtlCol="0" anchor="t"/>
          <a:lstStyle/>
          <a:p>
            <a:pPr marL="0" indent="0">
              <a:buNone/>
            </a:pPr>
            <a:r>
              <a:rPr lang="en-US" sz="850" dirty="0">
                <a:solidFill>
                  <a:schemeClr val="tx1"/>
                </a:solidFill>
              </a:rPr>
              <a:t>KMP never backs up in the text: its failure table shifts the pattern, so a train-number search stays O(n+m) rather than O(nm). Aho–Corasick builds one automaton for many alert keywords, so each service description is scanned once instead of once per keyword.</a:t>
            </a:r>
            <a:endParaRPr lang="en-US" sz="850" dirty="0"/>
          </a:p>
        </p:txBody>
      </p:sp>
      <p:sp>
        <p:nvSpPr>
          <p:cNvPr id="10" name="Shape 7"/>
          <p:cNvSpPr/>
          <p:nvPr/>
        </p:nvSpPr>
        <p:spPr>
          <a:xfrm>
            <a:off x="6355080" y="2971800"/>
            <a:ext cx="2423160" cy="1783080"/>
          </a:xfrm>
          <a:prstGeom prst="rect">
            <a:avLst/>
          </a:prstGeom>
          <a:solidFill>
            <a:schemeClr val="bg1"/>
          </a:solidFill>
          <a:ln w="9525">
            <a:solidFill>
              <a:srgbClr val="CBD5E1"/>
            </a:solidFill>
            <a:prstDash val="solid"/>
          </a:ln>
        </p:spPr>
      </p:sp>
      <p:sp>
        <p:nvSpPr>
          <p:cNvPr id="11" name="Text 8"/>
          <p:cNvSpPr txBox="1"/>
          <p:nvPr/>
        </p:nvSpPr>
        <p:spPr>
          <a:xfrm>
            <a:off x="6492240" y="3063240"/>
            <a:ext cx="2194560" cy="457200"/>
          </a:xfrm>
          <a:prstGeom prst="rect">
            <a:avLst/>
          </a:prstGeom>
          <a:noFill/>
          <a:ln/>
        </p:spPr>
        <p:txBody>
          <a:bodyPr wrap="square" lIns="0" tIns="0" rIns="0" bIns="0" rtlCol="0" anchor="t"/>
          <a:lstStyle/>
          <a:p>
            <a:pPr marL="0" indent="0">
              <a:buNone/>
            </a:pPr>
            <a:r>
              <a:rPr lang="en-US" sz="1050" dirty="0">
                <a:solidFill>
                  <a:schemeClr val="tx1"/>
                </a:solidFill>
                <a:latin typeface="Courier New" pitchFamily="34" charset="0"/>
                <a:ea typeface="Courier New" pitchFamily="34" charset="-122"/>
                <a:cs typeface="Courier New" pitchFamily="34" charset="-120"/>
              </a:rPr>
              <a:t>T: SECUNDERA</a:t>
            </a:r>
            <a:r>
              <a:rPr lang="en-US" sz="1050" b="1" dirty="0">
                <a:solidFill>
                  <a:schemeClr val="accent2"/>
                </a:solidFill>
                <a:latin typeface="Courier New" pitchFamily="34" charset="0"/>
                <a:ea typeface="Courier New" pitchFamily="34" charset="-122"/>
                <a:cs typeface="Courier New" pitchFamily="34" charset="-120"/>
              </a:rPr>
              <a:t>BAD</a:t>
            </a:r>
            <a:endParaRPr lang="en-US" sz="1050" dirty="0"/>
          </a:p>
          <a:p>
            <a:pPr marL="0" indent="0">
              <a:buNone/>
            </a:pPr>
            <a:r>
              <a:rPr lang="en-US" sz="1050" dirty="0">
                <a:solidFill>
                  <a:schemeClr val="tx1"/>
                </a:solidFill>
                <a:latin typeface="Courier New" pitchFamily="34" charset="0"/>
                <a:ea typeface="Courier New" pitchFamily="34" charset="-122"/>
                <a:cs typeface="Courier New" pitchFamily="34" charset="-120"/>
              </a:rPr>
              <a:t>P: BAD</a:t>
            </a:r>
            <a:endParaRPr lang="en-US" sz="1050" dirty="0"/>
          </a:p>
        </p:txBody>
      </p:sp>
      <p:sp>
        <p:nvSpPr>
          <p:cNvPr id="12" name="Text 9"/>
          <p:cNvSpPr txBox="1"/>
          <p:nvPr/>
        </p:nvSpPr>
        <p:spPr>
          <a:xfrm>
            <a:off x="6492240" y="3611880"/>
            <a:ext cx="2148840" cy="228600"/>
          </a:xfrm>
          <a:prstGeom prst="rect">
            <a:avLst/>
          </a:prstGeom>
          <a:solidFill>
            <a:schemeClr val="accent5"/>
          </a:solidFill>
          <a:ln/>
        </p:spPr>
        <p:txBody>
          <a:bodyPr wrap="square" lIns="50800" tIns="50800" rIns="50800" bIns="50800" rtlCol="0" anchor="ctr"/>
          <a:lstStyle/>
          <a:p>
            <a:pPr marL="0" indent="0">
              <a:buNone/>
            </a:pPr>
            <a:r>
              <a:rPr lang="en-US" sz="800" b="1" dirty="0">
                <a:solidFill>
                  <a:schemeClr val="bg1"/>
                </a:solidFill>
              </a:rPr>
              <a:t>Naive: O(nm) worst case</a:t>
            </a:r>
            <a:endParaRPr lang="en-US" sz="800" dirty="0"/>
          </a:p>
        </p:txBody>
      </p:sp>
      <p:sp>
        <p:nvSpPr>
          <p:cNvPr id="13" name="Text 10"/>
          <p:cNvSpPr txBox="1"/>
          <p:nvPr/>
        </p:nvSpPr>
        <p:spPr>
          <a:xfrm>
            <a:off x="6492240" y="3913632"/>
            <a:ext cx="1097280" cy="228600"/>
          </a:xfrm>
          <a:prstGeom prst="rect">
            <a:avLst/>
          </a:prstGeom>
          <a:solidFill>
            <a:schemeClr val="accent1"/>
          </a:solidFill>
          <a:ln/>
        </p:spPr>
        <p:txBody>
          <a:bodyPr wrap="square" lIns="50800" tIns="50800" rIns="50800" bIns="50800" rtlCol="0" anchor="ctr"/>
          <a:lstStyle/>
          <a:p>
            <a:pPr marL="0" indent="0">
              <a:buNone/>
            </a:pPr>
            <a:r>
              <a:rPr lang="en-US" sz="800" b="1" dirty="0">
                <a:solidFill>
                  <a:schemeClr val="bg1"/>
                </a:solidFill>
              </a:rPr>
              <a:t>KMP: O(n+m)</a:t>
            </a:r>
            <a:endParaRPr lang="en-US" sz="800" dirty="0"/>
          </a:p>
        </p:txBody>
      </p:sp>
      <p:sp>
        <p:nvSpPr>
          <p:cNvPr id="14" name="Text 11"/>
          <p:cNvSpPr txBox="1"/>
          <p:nvPr/>
        </p:nvSpPr>
        <p:spPr>
          <a:xfrm>
            <a:off x="6446520" y="4434840"/>
            <a:ext cx="2240280" cy="274320"/>
          </a:xfrm>
          <a:prstGeom prst="rect">
            <a:avLst/>
          </a:prstGeom>
          <a:noFill/>
          <a:ln/>
        </p:spPr>
        <p:txBody>
          <a:bodyPr wrap="square" lIns="0" tIns="0" rIns="0" bIns="0" rtlCol="0" anchor="t"/>
          <a:lstStyle/>
          <a:p>
            <a:pPr marL="0" indent="0">
              <a:buNone/>
            </a:pPr>
            <a:r>
              <a:rPr lang="en-US" sz="750" i="1" dirty="0">
                <a:solidFill>
                  <a:schemeClr val="tx2"/>
                </a:solidFill>
              </a:rPr>
              <a:t>Conceptual growth comparison, not measured run times.</a:t>
            </a:r>
            <a:endParaRPr lang="en-US" sz="7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Module 2 — Suffix Structures and Similarity</a:t>
            </a:r>
            <a:endParaRPr lang="en-US" sz="2200" dirty="0"/>
          </a:p>
        </p:txBody>
      </p:sp>
      <p:sp>
        <p:nvSpPr>
          <p:cNvPr id="3" name="Text 1"/>
          <p:cNvSpPr txBox="1"/>
          <p:nvPr/>
        </p:nvSpPr>
        <p:spPr>
          <a:xfrm>
            <a:off x="365760" y="749808"/>
            <a:ext cx="8412480" cy="411480"/>
          </a:xfrm>
          <a:prstGeom prst="rect">
            <a:avLst/>
          </a:prstGeom>
          <a:noFill/>
          <a:ln/>
        </p:spPr>
        <p:txBody>
          <a:bodyPr wrap="square" lIns="0" tIns="0" rIns="0" bIns="0" rtlCol="0" anchor="t"/>
          <a:lstStyle/>
          <a:p>
            <a:pPr marL="0" indent="0">
              <a:buNone/>
            </a:pPr>
            <a:r>
              <a:rPr lang="en-US" sz="1050" b="1" dirty="0">
                <a:solidFill>
                  <a:schemeClr val="accent1"/>
                </a:solidFill>
              </a:rPr>
              <a:t>Problem addressed: </a:t>
            </a:r>
            <a:r>
              <a:rPr lang="en-US" sz="1050" dirty="0">
                <a:solidFill>
                  <a:schemeClr val="tx1"/>
                </a:solidFill>
              </a:rPr>
              <a:t>Efficient substring indexing, repeated-text analysis and similarity-oriented queries.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7607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 in RailSync</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Time complexity</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Suffix Array</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Organise suffixes for substring indexing</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Depends on construction method</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SA-IS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Linear-time suffix-array construction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 under standard assumptions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Kasai LCP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Find longest common prefixes of adjacent suffixes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 given a suffix array</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Suffix Automaton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Support substring queries and substring-related analysis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 construction and O(m) pattern traversal under standard assumptions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365760" y="4160520"/>
            <a:ext cx="5760720" cy="594360"/>
          </a:xfrm>
          <a:prstGeom prst="rect">
            <a:avLst/>
          </a:prstGeom>
          <a:noFill/>
          <a:ln/>
        </p:spPr>
        <p:txBody>
          <a:bodyPr wrap="square" lIns="0" tIns="0" rIns="0" bIns="0" rtlCol="0" anchor="t"/>
          <a:lstStyle/>
          <a:p>
            <a:pPr marL="0" indent="0">
              <a:buNone/>
            </a:pPr>
            <a:r>
              <a:rPr lang="en-US" sz="800" dirty="0">
                <a:solidFill>
                  <a:schemeClr val="tx2"/>
                </a:solidFill>
              </a:rPr>
              <a:t>n = text length, m = pattern length. Space: suffix array and LCP array each O(n) integers; suffix automaton O(n) states for a fixed alphabet. The general suffix-array implementation is distinct from SA-IS: not every construction is linear-time.</a:t>
            </a:r>
            <a:endParaRPr lang="en-US" sz="800" dirty="0"/>
          </a:p>
        </p:txBody>
      </p:sp>
      <p:sp>
        <p:nvSpPr>
          <p:cNvPr id="4" name="Shape 3"/>
          <p:cNvSpPr/>
          <p:nvPr/>
        </p:nvSpPr>
        <p:spPr>
          <a:xfrm>
            <a:off x="6355080" y="1261872"/>
            <a:ext cx="2423160" cy="1600200"/>
          </a:xfrm>
          <a:prstGeom prst="rect">
            <a:avLst/>
          </a:prstGeom>
          <a:solidFill>
            <a:schemeClr val="bg1"/>
          </a:solidFill>
          <a:ln w="9525">
            <a:solidFill>
              <a:srgbClr val="CBD5E1"/>
            </a:solidFill>
            <a:prstDash val="solid"/>
          </a:ln>
        </p:spPr>
      </p:sp>
      <p:sp>
        <p:nvSpPr>
          <p:cNvPr id="7" name="Shape 4"/>
          <p:cNvSpPr/>
          <p:nvPr/>
        </p:nvSpPr>
        <p:spPr>
          <a:xfrm>
            <a:off x="6355080" y="1261872"/>
            <a:ext cx="54864" cy="1600200"/>
          </a:xfrm>
          <a:prstGeom prst="rect">
            <a:avLst/>
          </a:prstGeom>
          <a:solidFill>
            <a:schemeClr val="accent1"/>
          </a:solidFill>
          <a:ln w="12700">
            <a:solidFill>
              <a:schemeClr val="accent1"/>
            </a:solidFill>
            <a:prstDash val="solid"/>
          </a:ln>
        </p:spPr>
      </p:sp>
      <p:sp>
        <p:nvSpPr>
          <p:cNvPr id="8" name="Text 5"/>
          <p:cNvSpPr txBox="1"/>
          <p:nvPr/>
        </p:nvSpPr>
        <p:spPr>
          <a:xfrm>
            <a:off x="6492240" y="1325880"/>
            <a:ext cx="2194560" cy="201168"/>
          </a:xfrm>
          <a:prstGeom prst="rect">
            <a:avLst/>
          </a:prstGeom>
          <a:noFill/>
          <a:ln/>
        </p:spPr>
        <p:txBody>
          <a:bodyPr wrap="square" lIns="0" tIns="0" rIns="0" bIns="0" rtlCol="0" anchor="t"/>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6492240" y="1536192"/>
            <a:ext cx="2212848" cy="1298448"/>
          </a:xfrm>
          <a:prstGeom prst="rect">
            <a:avLst/>
          </a:prstGeom>
          <a:noFill/>
          <a:ln/>
        </p:spPr>
        <p:txBody>
          <a:bodyPr wrap="square" lIns="0" tIns="0" rIns="0" bIns="0" rtlCol="0" anchor="t"/>
          <a:lstStyle/>
          <a:p>
            <a:pPr marL="0" indent="0">
              <a:buNone/>
            </a:pPr>
            <a:r>
              <a:rPr lang="en-US" sz="850" dirty="0">
                <a:solidFill>
                  <a:schemeClr val="tx1"/>
                </a:solidFill>
              </a:rPr>
              <a:t>A suffix array sorts all suffixes once. Each substring query then becomes a binary search (O(m log n)), and LCP values expose repeated substrings. Suffix structures pay off when one text must answer many substring queries, such as repeated alert text in service logs.</a:t>
            </a:r>
            <a:endParaRPr lang="en-US" sz="850" dirty="0"/>
          </a:p>
        </p:txBody>
      </p:sp>
      <p:sp>
        <p:nvSpPr>
          <p:cNvPr id="10" name="Shape 7"/>
          <p:cNvSpPr/>
          <p:nvPr/>
        </p:nvSpPr>
        <p:spPr>
          <a:xfrm>
            <a:off x="6355080" y="2971800"/>
            <a:ext cx="2423160" cy="1783080"/>
          </a:xfrm>
          <a:prstGeom prst="rect">
            <a:avLst/>
          </a:prstGeom>
          <a:solidFill>
            <a:schemeClr val="bg1"/>
          </a:solidFill>
          <a:ln w="9525">
            <a:solidFill>
              <a:srgbClr val="CBD5E1"/>
            </a:solidFill>
            <a:prstDash val="solid"/>
          </a:ln>
        </p:spPr>
      </p:sp>
      <p:sp>
        <p:nvSpPr>
          <p:cNvPr id="11" name="Text 8"/>
          <p:cNvSpPr txBox="1"/>
          <p:nvPr/>
        </p:nvSpPr>
        <p:spPr>
          <a:xfrm>
            <a:off x="6492240" y="3035808"/>
            <a:ext cx="2194560" cy="182880"/>
          </a:xfrm>
          <a:prstGeom prst="rect">
            <a:avLst/>
          </a:prstGeom>
          <a:noFill/>
          <a:ln/>
        </p:spPr>
        <p:txBody>
          <a:bodyPr wrap="square" lIns="0" tIns="0" rIns="0" bIns="0" rtlCol="0" anchor="t"/>
          <a:lstStyle/>
          <a:p>
            <a:pPr marL="0" indent="0">
              <a:buNone/>
            </a:pPr>
            <a:r>
              <a:rPr lang="en-US" sz="900" b="1" dirty="0">
                <a:solidFill>
                  <a:schemeClr val="tx1"/>
                </a:solidFill>
              </a:rPr>
              <a:t>Text: RAILRAIL</a:t>
            </a:r>
            <a:endParaRPr lang="en-US" sz="900" dirty="0"/>
          </a:p>
        </p:txBody>
      </p:sp>
      <p:sp>
        <p:nvSpPr>
          <p:cNvPr id="12" name="Text 9"/>
          <p:cNvSpPr txBox="1"/>
          <p:nvPr/>
        </p:nvSpPr>
        <p:spPr>
          <a:xfrm>
            <a:off x="6492240" y="3246120"/>
            <a:ext cx="2194560" cy="1143000"/>
          </a:xfrm>
          <a:prstGeom prst="rect">
            <a:avLst/>
          </a:prstGeom>
          <a:noFill/>
          <a:ln/>
        </p:spPr>
        <p:txBody>
          <a:bodyPr wrap="square" lIns="0" tIns="0" rIns="0" bIns="0" rtlCol="0" anchor="t"/>
          <a:lstStyle/>
          <a:p>
            <a:pPr marL="0" indent="0">
              <a:buNone/>
            </a:pPr>
            <a:r>
              <a:rPr lang="en-US" sz="850" b="1" dirty="0">
                <a:solidFill>
                  <a:schemeClr val="tx1"/>
                </a:solidFill>
                <a:latin typeface="Courier New" pitchFamily="34" charset="0"/>
                <a:ea typeface="Courier New" pitchFamily="34" charset="-122"/>
                <a:cs typeface="Courier New" pitchFamily="34" charset="-120"/>
              </a:rPr>
              <a:t>SA  Suffix     LCP</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5   AIL         -</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1   AILRAIL     3</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6   IL          0</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2   ILRAIL      2</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7   L           0</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3   LRAIL       1</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4   RAIL        0</a:t>
            </a:r>
            <a:endParaRPr lang="en-US" sz="850" dirty="0"/>
          </a:p>
          <a:p>
            <a:pPr marL="0" indent="0">
              <a:buNone/>
            </a:pPr>
            <a:r>
              <a:rPr lang="en-US" sz="850" dirty="0">
                <a:solidFill>
                  <a:schemeClr val="tx1"/>
                </a:solidFill>
                <a:latin typeface="Courier New" pitchFamily="34" charset="0"/>
                <a:ea typeface="Courier New" pitchFamily="34" charset="-122"/>
                <a:cs typeface="Courier New" pitchFamily="34" charset="-120"/>
              </a:rPr>
              <a:t>0   RAILRAIL    4</a:t>
            </a:r>
            <a:endParaRPr lang="en-US" sz="850" dirty="0"/>
          </a:p>
        </p:txBody>
      </p:sp>
      <p:sp>
        <p:nvSpPr>
          <p:cNvPr id="13" name="Text 10"/>
          <p:cNvSpPr txBox="1"/>
          <p:nvPr/>
        </p:nvSpPr>
        <p:spPr>
          <a:xfrm>
            <a:off x="6446520" y="4434840"/>
            <a:ext cx="2240280" cy="274320"/>
          </a:xfrm>
          <a:prstGeom prst="rect">
            <a:avLst/>
          </a:prstGeom>
          <a:noFill/>
          <a:ln/>
        </p:spPr>
        <p:txBody>
          <a:bodyPr wrap="square" lIns="0" tIns="0" rIns="0" bIns="0" rtlCol="0" anchor="t"/>
          <a:lstStyle/>
          <a:p>
            <a:pPr marL="0" indent="0">
              <a:buNone/>
            </a:pPr>
            <a:r>
              <a:rPr lang="en-US" sz="750" i="1" dirty="0">
                <a:solidFill>
                  <a:schemeClr val="tx2"/>
                </a:solidFill>
              </a:rPr>
              <a:t>LCP = common prefix with the previous suffix in sorted order.</a:t>
            </a:r>
            <a:endParaRPr lang="en-US" sz="7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Module 3 — Advanced Dynamic Programming</a:t>
            </a:r>
            <a:endParaRPr lang="en-US" sz="2200" dirty="0"/>
          </a:p>
        </p:txBody>
      </p:sp>
      <p:sp>
        <p:nvSpPr>
          <p:cNvPr id="3" name="Text 1"/>
          <p:cNvSpPr txBox="1"/>
          <p:nvPr/>
        </p:nvSpPr>
        <p:spPr>
          <a:xfrm>
            <a:off x="365760" y="749808"/>
            <a:ext cx="8412480" cy="411480"/>
          </a:xfrm>
          <a:prstGeom prst="rect">
            <a:avLst/>
          </a:prstGeom>
          <a:noFill/>
          <a:ln/>
        </p:spPr>
        <p:txBody>
          <a:bodyPr wrap="square" lIns="0" tIns="0" rIns="0" bIns="0" rtlCol="0" anchor="t"/>
          <a:lstStyle/>
          <a:p>
            <a:pPr marL="0" indent="0">
              <a:buNone/>
            </a:pPr>
            <a:r>
              <a:rPr lang="en-US" sz="1050" b="1" dirty="0">
                <a:solidFill>
                  <a:schemeClr val="accent1"/>
                </a:solidFill>
              </a:rPr>
              <a:t>Problem addressed: </a:t>
            </a:r>
            <a:r>
              <a:rPr lang="en-US" sz="1050" dirty="0">
                <a:solidFill>
                  <a:schemeClr val="tx1"/>
                </a:solidFill>
              </a:rPr>
              <a:t>String correction, sequence alignment, optimal parenthesisation, search-cost optimisation and small-instance route-tour optimisation.</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7607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 in RailSync</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Time complexity</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Levenshtein / Wagner–Fischer</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Measure differences between station-name strings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Damerau–Levenshtein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Handle adjacent character transpositions in typo correction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 for the standard full-table version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Needleman–Wunsch</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Global sequence or route-alignment demonstration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Smith–Waterman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Local sequence or route-alignment demonstration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Matrix-Chain / Interval DP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Optimise a sequence of matrix multiplications or interval decisions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O(n³) for standard matrix-chain DP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Optimal BST</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Search-cost optimisation with non-uniform access frequencies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O(n³) for the standard algorithm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Bitmask DP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Explore minimum-cost tours through a small set of station hubs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O(n²·2ⁿ) for standard TSP DP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365760" y="4160520"/>
            <a:ext cx="5760720" cy="594360"/>
          </a:xfrm>
          <a:prstGeom prst="rect">
            <a:avLst/>
          </a:prstGeom>
          <a:noFill/>
          <a:ln/>
        </p:spPr>
        <p:txBody>
          <a:bodyPr wrap="square" lIns="0" tIns="0" rIns="0" bIns="0" rtlCol="0" anchor="t"/>
          <a:lstStyle/>
          <a:p>
            <a:pPr marL="0" indent="0">
              <a:buNone/>
            </a:pPr>
            <a:r>
              <a:rPr lang="en-US" sz="800" dirty="0">
                <a:solidFill>
                  <a:schemeClr val="tx2"/>
                </a:solidFill>
              </a:rPr>
              <a:t>n, m = string lengths (or number of matrices, keys or hubs for the interval, BST and bitmask DPs). Space: edit-distance tables O(nm), reducible to O(min(n,m)) if only the distance is needed; bitmask DP O(n·2ⁿ). These are DP demonstrations, not a live route optimiser.</a:t>
            </a:r>
            <a:endParaRPr lang="en-US" sz="800" dirty="0"/>
          </a:p>
        </p:txBody>
      </p:sp>
      <p:sp>
        <p:nvSpPr>
          <p:cNvPr id="6" name="Shape 3"/>
          <p:cNvSpPr/>
          <p:nvPr/>
        </p:nvSpPr>
        <p:spPr>
          <a:xfrm>
            <a:off x="6355080" y="1261872"/>
            <a:ext cx="2423160" cy="1600200"/>
          </a:xfrm>
          <a:prstGeom prst="rect">
            <a:avLst/>
          </a:prstGeom>
          <a:solidFill>
            <a:schemeClr val="bg1"/>
          </a:solidFill>
          <a:ln w="9525">
            <a:solidFill>
              <a:srgbClr val="CBD5E1"/>
            </a:solidFill>
            <a:prstDash val="solid"/>
          </a:ln>
        </p:spPr>
      </p:sp>
      <p:sp>
        <p:nvSpPr>
          <p:cNvPr id="4" name="Shape 4"/>
          <p:cNvSpPr/>
          <p:nvPr/>
        </p:nvSpPr>
        <p:spPr>
          <a:xfrm>
            <a:off x="6355080" y="1261872"/>
            <a:ext cx="54864" cy="1600200"/>
          </a:xfrm>
          <a:prstGeom prst="rect">
            <a:avLst/>
          </a:prstGeom>
          <a:solidFill>
            <a:schemeClr val="accent1"/>
          </a:solidFill>
          <a:ln w="12700">
            <a:solidFill>
              <a:schemeClr val="accent1"/>
            </a:solidFill>
            <a:prstDash val="solid"/>
          </a:ln>
        </p:spPr>
      </p:sp>
      <p:sp>
        <p:nvSpPr>
          <p:cNvPr id="8" name="Text 5"/>
          <p:cNvSpPr txBox="1"/>
          <p:nvPr/>
        </p:nvSpPr>
        <p:spPr>
          <a:xfrm>
            <a:off x="6492240" y="1325880"/>
            <a:ext cx="2194560" cy="201168"/>
          </a:xfrm>
          <a:prstGeom prst="rect">
            <a:avLst/>
          </a:prstGeom>
          <a:noFill/>
          <a:ln/>
        </p:spPr>
        <p:txBody>
          <a:bodyPr wrap="square" lIns="0" tIns="0" rIns="0" bIns="0" rtlCol="0" anchor="t"/>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6492240" y="1536192"/>
            <a:ext cx="2212848" cy="1298448"/>
          </a:xfrm>
          <a:prstGeom prst="rect">
            <a:avLst/>
          </a:prstGeom>
          <a:noFill/>
          <a:ln/>
        </p:spPr>
        <p:txBody>
          <a:bodyPr wrap="square" lIns="0" tIns="0" rIns="0" bIns="0" rtlCol="0" anchor="t"/>
          <a:lstStyle/>
          <a:p>
            <a:pPr marL="0" indent="0">
              <a:buNone/>
            </a:pPr>
            <a:r>
              <a:rPr lang="en-US" sz="850" dirty="0">
                <a:solidFill>
                  <a:schemeClr val="tx1"/>
                </a:solidFill>
              </a:rPr>
              <a:t>Overlapping subproblems and optimal substructure: each cell is built from smaller cells by a state transition. Bitmask DP tracks (visited hubs, last hub), so it suits only small hub sets because its time grows exponentially.</a:t>
            </a:r>
            <a:endParaRPr lang="en-US" sz="850" dirty="0"/>
          </a:p>
        </p:txBody>
      </p:sp>
      <p:sp>
        <p:nvSpPr>
          <p:cNvPr id="10" name="Shape 7"/>
          <p:cNvSpPr/>
          <p:nvPr/>
        </p:nvSpPr>
        <p:spPr>
          <a:xfrm>
            <a:off x="6355080" y="2971800"/>
            <a:ext cx="2423160" cy="1783080"/>
          </a:xfrm>
          <a:prstGeom prst="rect">
            <a:avLst/>
          </a:prstGeom>
          <a:solidFill>
            <a:schemeClr val="bg1"/>
          </a:solidFill>
          <a:ln w="9525">
            <a:solidFill>
              <a:srgbClr val="CBD5E1"/>
            </a:solidFill>
            <a:prstDash val="solid"/>
          </a:ln>
        </p:spPr>
      </p:sp>
      <p:sp>
        <p:nvSpPr>
          <p:cNvPr id="11" name="Text 8"/>
          <p:cNvSpPr txBox="1"/>
          <p:nvPr/>
        </p:nvSpPr>
        <p:spPr>
          <a:xfrm>
            <a:off x="6537960" y="3063240"/>
            <a:ext cx="2194560" cy="105156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     - R A L</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  0 1 2 3</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R  1 0 1 2</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A  2 1 0 1</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I  3 2 1 1</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  4 3 2 1</a:t>
            </a:r>
            <a:endParaRPr lang="en-US" sz="1100" dirty="0"/>
          </a:p>
        </p:txBody>
      </p:sp>
      <p:sp>
        <p:nvSpPr>
          <p:cNvPr id="12" name="Text 9"/>
          <p:cNvSpPr txBox="1"/>
          <p:nvPr/>
        </p:nvSpPr>
        <p:spPr>
          <a:xfrm>
            <a:off x="6492240" y="4160520"/>
            <a:ext cx="2240280" cy="182880"/>
          </a:xfrm>
          <a:prstGeom prst="rect">
            <a:avLst/>
          </a:prstGeom>
          <a:noFill/>
          <a:ln/>
        </p:spPr>
        <p:txBody>
          <a:bodyPr wrap="square" lIns="0" tIns="0" rIns="0" bIns="0" rtlCol="0" anchor="t"/>
          <a:lstStyle/>
          <a:p>
            <a:pPr marL="0" indent="0">
              <a:buNone/>
            </a:pPr>
            <a:r>
              <a:rPr lang="en-US" sz="800" b="1" dirty="0">
                <a:solidFill>
                  <a:schemeClr val="accent1"/>
                </a:solidFill>
              </a:rPr>
              <a:t>D[i][j] = min(delete, insert, substitute)</a:t>
            </a:r>
            <a:endParaRPr lang="en-US" sz="800" dirty="0"/>
          </a:p>
        </p:txBody>
      </p:sp>
      <p:sp>
        <p:nvSpPr>
          <p:cNvPr id="13" name="Text 10"/>
          <p:cNvSpPr txBox="1"/>
          <p:nvPr/>
        </p:nvSpPr>
        <p:spPr>
          <a:xfrm>
            <a:off x="6492240" y="4434840"/>
            <a:ext cx="2240280" cy="228600"/>
          </a:xfrm>
          <a:prstGeom prst="rect">
            <a:avLst/>
          </a:prstGeom>
          <a:noFill/>
          <a:ln/>
        </p:spPr>
        <p:txBody>
          <a:bodyPr wrap="square" lIns="0" tIns="0" rIns="0" bIns="0" rtlCol="0" anchor="t"/>
          <a:lstStyle/>
          <a:p>
            <a:pPr marL="0" indent="0">
              <a:buNone/>
            </a:pPr>
            <a:r>
              <a:rPr lang="en-US" sz="750" i="1" dirty="0">
                <a:solidFill>
                  <a:schemeClr val="tx2"/>
                </a:solidFill>
              </a:rPr>
              <a:t>Edit distance RAIL → RAL = 1 (delete I).</a:t>
            </a:r>
            <a:endParaRPr lang="en-US" sz="7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Module 4 — Network Flow</a:t>
            </a:r>
            <a:endParaRPr lang="en-US" sz="2200" dirty="0"/>
          </a:p>
        </p:txBody>
      </p:sp>
      <p:sp>
        <p:nvSpPr>
          <p:cNvPr id="3" name="Text 1"/>
          <p:cNvSpPr txBox="1"/>
          <p:nvPr/>
        </p:nvSpPr>
        <p:spPr>
          <a:xfrm>
            <a:off x="365760" y="749808"/>
            <a:ext cx="8412480" cy="411480"/>
          </a:xfrm>
          <a:prstGeom prst="rect">
            <a:avLst/>
          </a:prstGeom>
          <a:noFill/>
          <a:ln/>
        </p:spPr>
        <p:txBody>
          <a:bodyPr wrap="square" lIns="0" tIns="0" rIns="0" bIns="0" rtlCol="0" anchor="t"/>
          <a:lstStyle/>
          <a:p>
            <a:pPr marL="0" indent="0">
              <a:buNone/>
            </a:pPr>
            <a:r>
              <a:rPr lang="en-US" sz="1050" b="1" dirty="0">
                <a:solidFill>
                  <a:schemeClr val="accent1"/>
                </a:solidFill>
              </a:rPr>
              <a:t>Problem addressed: </a:t>
            </a:r>
            <a:r>
              <a:rPr lang="en-US" sz="1050" dirty="0">
                <a:solidFill>
                  <a:schemeClr val="tx1"/>
                </a:solidFill>
              </a:rPr>
              <a:t>Capacity-constrained network analysis, maximum flow and assignment problems.</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7607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 in RailSync</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Time complexity</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Ford–Fulkerson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Maximum flow using augmenting paths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O(EF) under the standard integer-capacity bound</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Edmonds–Karp</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Maximum flow using BFS-selected augmenting paths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O(VE²)</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Dinic</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Maximum flow through level graphs and blocking flows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O(V²E) for general networks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Bipartite Matching</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Demonstrate train-to-platform assignment</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O(VE) for a standard augmenting-path implementation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Max-Flow Min-Cut</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Analyse capacity bottlenecks and graph partitions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Uses the complexity of the selected flow algorithm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König’s Theorem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Relate bipartite matching to minimum vertex cover</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Depends on the matching algorithm used</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365760" y="4160520"/>
            <a:ext cx="5760720" cy="594360"/>
          </a:xfrm>
          <a:prstGeom prst="rect">
            <a:avLst/>
          </a:prstGeom>
          <a:noFill/>
          <a:ln/>
        </p:spPr>
        <p:txBody>
          <a:bodyPr wrap="square" lIns="0" tIns="0" rIns="0" bIns="0" rtlCol="0" anchor="t"/>
          <a:lstStyle/>
          <a:p>
            <a:pPr marL="0" indent="0">
              <a:buNone/>
            </a:pPr>
            <a:r>
              <a:rPr lang="en-US" sz="800" dirty="0">
                <a:solidFill>
                  <a:schemeClr val="tx2"/>
                </a:solidFill>
              </a:rPr>
              <a:t>V = vertices (stations/platforms), E = edges, F = value of the maximum flow (integer capacities). Space: residual graph O(V+E). Dinic is a standard general-purpose reference; no algorithm is fastest on every network.</a:t>
            </a:r>
            <a:endParaRPr lang="en-US" sz="800" dirty="0"/>
          </a:p>
        </p:txBody>
      </p:sp>
      <p:sp>
        <p:nvSpPr>
          <p:cNvPr id="6" name="Shape 3"/>
          <p:cNvSpPr/>
          <p:nvPr/>
        </p:nvSpPr>
        <p:spPr>
          <a:xfrm>
            <a:off x="6355080" y="1261872"/>
            <a:ext cx="2423160" cy="1600200"/>
          </a:xfrm>
          <a:prstGeom prst="rect">
            <a:avLst/>
          </a:prstGeom>
          <a:solidFill>
            <a:schemeClr val="bg1"/>
          </a:solidFill>
          <a:ln w="9525">
            <a:solidFill>
              <a:srgbClr val="CBD5E1"/>
            </a:solidFill>
            <a:prstDash val="solid"/>
          </a:ln>
        </p:spPr>
      </p:sp>
      <p:sp>
        <p:nvSpPr>
          <p:cNvPr id="7" name="Shape 4"/>
          <p:cNvSpPr/>
          <p:nvPr/>
        </p:nvSpPr>
        <p:spPr>
          <a:xfrm>
            <a:off x="6355080" y="1261872"/>
            <a:ext cx="54864" cy="1600200"/>
          </a:xfrm>
          <a:prstGeom prst="rect">
            <a:avLst/>
          </a:prstGeom>
          <a:solidFill>
            <a:schemeClr val="accent1"/>
          </a:solidFill>
          <a:ln w="12700">
            <a:solidFill>
              <a:schemeClr val="accent1"/>
            </a:solidFill>
            <a:prstDash val="solid"/>
          </a:ln>
        </p:spPr>
      </p:sp>
      <p:sp>
        <p:nvSpPr>
          <p:cNvPr id="4" name="Text 5"/>
          <p:cNvSpPr txBox="1"/>
          <p:nvPr/>
        </p:nvSpPr>
        <p:spPr>
          <a:xfrm>
            <a:off x="6492240" y="1325880"/>
            <a:ext cx="2194560" cy="201168"/>
          </a:xfrm>
          <a:prstGeom prst="rect">
            <a:avLst/>
          </a:prstGeom>
          <a:noFill/>
          <a:ln/>
        </p:spPr>
        <p:txBody>
          <a:bodyPr wrap="square" lIns="0" tIns="0" rIns="0" bIns="0" rtlCol="0" anchor="t"/>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6492240" y="1536192"/>
            <a:ext cx="2212848" cy="1298448"/>
          </a:xfrm>
          <a:prstGeom prst="rect">
            <a:avLst/>
          </a:prstGeom>
          <a:noFill/>
          <a:ln/>
        </p:spPr>
        <p:txBody>
          <a:bodyPr wrap="square" lIns="0" tIns="0" rIns="0" bIns="0" rtlCol="0" anchor="t"/>
          <a:lstStyle/>
          <a:p>
            <a:pPr marL="0" indent="0">
              <a:buNone/>
            </a:pPr>
            <a:r>
              <a:rPr lang="en-US" sz="850" dirty="0">
                <a:solidFill>
                  <a:schemeClr val="tx1"/>
                </a:solidFill>
              </a:rPr>
              <a:t>Source S, sink T and edge capacities define the network. A valid flow respects capacities and conserves flow at every internal node; the residual graph shows where more flow can be pushed. Max flow equals min cut, and bipartite matching is a special flow case.</a:t>
            </a:r>
            <a:endParaRPr lang="en-US" sz="850" dirty="0"/>
          </a:p>
        </p:txBody>
      </p:sp>
      <p:sp>
        <p:nvSpPr>
          <p:cNvPr id="10" name="Shape 7"/>
          <p:cNvSpPr/>
          <p:nvPr/>
        </p:nvSpPr>
        <p:spPr>
          <a:xfrm>
            <a:off x="6355080" y="2971800"/>
            <a:ext cx="2423160" cy="1783080"/>
          </a:xfrm>
          <a:prstGeom prst="rect">
            <a:avLst/>
          </a:prstGeom>
          <a:solidFill>
            <a:schemeClr val="bg1"/>
          </a:solidFill>
          <a:ln w="9525">
            <a:solidFill>
              <a:srgbClr val="CBD5E1"/>
            </a:solidFill>
            <a:prstDash val="solid"/>
          </a:ln>
        </p:spPr>
      </p:sp>
      <p:sp>
        <p:nvSpPr>
          <p:cNvPr id="11" name="Shape 8"/>
          <p:cNvSpPr/>
          <p:nvPr/>
        </p:nvSpPr>
        <p:spPr>
          <a:xfrm flipV="1">
            <a:off x="6761220" y="3419947"/>
            <a:ext cx="467881" cy="292425"/>
          </a:xfrm>
          <a:prstGeom prst="line">
            <a:avLst/>
          </a:prstGeom>
          <a:noFill/>
          <a:ln w="15875">
            <a:solidFill>
              <a:schemeClr val="tx2"/>
            </a:solidFill>
            <a:prstDash val="solid"/>
            <a:tailEnd type="triangle"/>
          </a:ln>
        </p:spPr>
      </p:sp>
      <p:sp>
        <p:nvSpPr>
          <p:cNvPr id="12" name="Shape 9"/>
          <p:cNvSpPr/>
          <p:nvPr/>
        </p:nvSpPr>
        <p:spPr>
          <a:xfrm>
            <a:off x="6768437" y="3864278"/>
            <a:ext cx="453446" cy="226723"/>
          </a:xfrm>
          <a:prstGeom prst="line">
            <a:avLst/>
          </a:prstGeom>
          <a:noFill/>
          <a:ln w="15875">
            <a:solidFill>
              <a:schemeClr val="tx2"/>
            </a:solidFill>
            <a:prstDash val="solid"/>
            <a:tailEnd type="triangle"/>
          </a:ln>
        </p:spPr>
      </p:sp>
      <p:sp>
        <p:nvSpPr>
          <p:cNvPr id="13" name="Shape 10"/>
          <p:cNvSpPr/>
          <p:nvPr/>
        </p:nvSpPr>
        <p:spPr>
          <a:xfrm>
            <a:off x="7360920" y="3493008"/>
            <a:ext cx="0" cy="512064"/>
          </a:xfrm>
          <a:prstGeom prst="line">
            <a:avLst/>
          </a:prstGeom>
          <a:noFill/>
          <a:ln w="15875">
            <a:solidFill>
              <a:schemeClr val="tx2"/>
            </a:solidFill>
            <a:prstDash val="solid"/>
            <a:tailEnd type="triangle"/>
          </a:ln>
        </p:spPr>
      </p:sp>
      <p:sp>
        <p:nvSpPr>
          <p:cNvPr id="14" name="Shape 11"/>
          <p:cNvSpPr/>
          <p:nvPr/>
        </p:nvSpPr>
        <p:spPr>
          <a:xfrm>
            <a:off x="7507179" y="3390213"/>
            <a:ext cx="850482" cy="306173"/>
          </a:xfrm>
          <a:prstGeom prst="line">
            <a:avLst/>
          </a:prstGeom>
          <a:noFill/>
          <a:ln w="31750">
            <a:solidFill>
              <a:schemeClr val="accent2"/>
            </a:solidFill>
            <a:prstDash val="solid"/>
            <a:tailEnd type="triangle"/>
          </a:ln>
        </p:spPr>
      </p:sp>
      <p:sp>
        <p:nvSpPr>
          <p:cNvPr id="15" name="Shape 12"/>
          <p:cNvSpPr/>
          <p:nvPr/>
        </p:nvSpPr>
        <p:spPr>
          <a:xfrm flipV="1">
            <a:off x="7507179" y="3801693"/>
            <a:ext cx="850482" cy="306173"/>
          </a:xfrm>
          <a:prstGeom prst="line">
            <a:avLst/>
          </a:prstGeom>
          <a:noFill/>
          <a:ln w="31750">
            <a:solidFill>
              <a:schemeClr val="accent2"/>
            </a:solidFill>
            <a:prstDash val="solid"/>
            <a:tailEnd type="triangle"/>
          </a:ln>
        </p:spPr>
      </p:sp>
      <p:sp>
        <p:nvSpPr>
          <p:cNvPr id="16" name="Text 13"/>
          <p:cNvSpPr txBox="1"/>
          <p:nvPr/>
        </p:nvSpPr>
        <p:spPr>
          <a:xfrm>
            <a:off x="6876288" y="3483864"/>
            <a:ext cx="237744" cy="164592"/>
          </a:xfrm>
          <a:prstGeom prst="rect">
            <a:avLst/>
          </a:prstGeom>
          <a:solidFill>
            <a:schemeClr val="bg1"/>
          </a:solidFill>
          <a:ln/>
        </p:spPr>
        <p:txBody>
          <a:bodyPr wrap="square" lIns="0" tIns="0" rIns="0" bIns="0" rtlCol="0" anchor="ctr"/>
          <a:lstStyle/>
          <a:p>
            <a:pPr marL="0" indent="0" algn="ctr">
              <a:buNone/>
            </a:pPr>
            <a:r>
              <a:rPr lang="en-US" sz="800" b="1" dirty="0">
                <a:solidFill>
                  <a:schemeClr val="tx1"/>
                </a:solidFill>
              </a:rPr>
              <a:t>10</a:t>
            </a:r>
            <a:endParaRPr lang="en-US" sz="800" dirty="0"/>
          </a:p>
        </p:txBody>
      </p:sp>
      <p:sp>
        <p:nvSpPr>
          <p:cNvPr id="17" name="Text 14"/>
          <p:cNvSpPr txBox="1"/>
          <p:nvPr/>
        </p:nvSpPr>
        <p:spPr>
          <a:xfrm>
            <a:off x="6876288" y="3895344"/>
            <a:ext cx="237744" cy="164592"/>
          </a:xfrm>
          <a:prstGeom prst="rect">
            <a:avLst/>
          </a:prstGeom>
          <a:solidFill>
            <a:schemeClr val="bg1"/>
          </a:solidFill>
          <a:ln/>
        </p:spPr>
        <p:txBody>
          <a:bodyPr wrap="square" lIns="0" tIns="0" rIns="0" bIns="0" rtlCol="0" anchor="ctr"/>
          <a:lstStyle/>
          <a:p>
            <a:pPr marL="0" indent="0" algn="ctr">
              <a:buNone/>
            </a:pPr>
            <a:r>
              <a:rPr lang="en-US" sz="800" b="1" dirty="0">
                <a:solidFill>
                  <a:schemeClr val="tx1"/>
                </a:solidFill>
              </a:rPr>
              <a:t>8</a:t>
            </a:r>
            <a:endParaRPr lang="en-US" sz="800" dirty="0"/>
          </a:p>
        </p:txBody>
      </p:sp>
      <p:sp>
        <p:nvSpPr>
          <p:cNvPr id="18" name="Text 15"/>
          <p:cNvSpPr txBox="1"/>
          <p:nvPr/>
        </p:nvSpPr>
        <p:spPr>
          <a:xfrm>
            <a:off x="7242048" y="3666744"/>
            <a:ext cx="237744" cy="164592"/>
          </a:xfrm>
          <a:prstGeom prst="rect">
            <a:avLst/>
          </a:prstGeom>
          <a:solidFill>
            <a:schemeClr val="bg1"/>
          </a:solidFill>
          <a:ln/>
        </p:spPr>
        <p:txBody>
          <a:bodyPr wrap="square" lIns="0" tIns="0" rIns="0" bIns="0" rtlCol="0" anchor="ctr"/>
          <a:lstStyle/>
          <a:p>
            <a:pPr marL="0" indent="0" algn="ctr">
              <a:buNone/>
            </a:pPr>
            <a:r>
              <a:rPr lang="en-US" sz="800" b="1" dirty="0">
                <a:solidFill>
                  <a:schemeClr val="tx1"/>
                </a:solidFill>
              </a:rPr>
              <a:t>6</a:t>
            </a:r>
            <a:endParaRPr lang="en-US" sz="800" dirty="0"/>
          </a:p>
        </p:txBody>
      </p:sp>
      <p:sp>
        <p:nvSpPr>
          <p:cNvPr id="19" name="Text 16"/>
          <p:cNvSpPr txBox="1"/>
          <p:nvPr/>
        </p:nvSpPr>
        <p:spPr>
          <a:xfrm>
            <a:off x="7813548" y="3461004"/>
            <a:ext cx="237744" cy="164592"/>
          </a:xfrm>
          <a:prstGeom prst="rect">
            <a:avLst/>
          </a:prstGeom>
          <a:solidFill>
            <a:schemeClr val="bg1"/>
          </a:solidFill>
          <a:ln/>
        </p:spPr>
        <p:txBody>
          <a:bodyPr wrap="square" lIns="0" tIns="0" rIns="0" bIns="0" rtlCol="0" anchor="ctr"/>
          <a:lstStyle/>
          <a:p>
            <a:pPr marL="0" indent="0" algn="ctr">
              <a:buNone/>
            </a:pPr>
            <a:r>
              <a:rPr lang="en-US" sz="800" b="1" dirty="0">
                <a:solidFill>
                  <a:schemeClr val="tx1"/>
                </a:solidFill>
              </a:rPr>
              <a:t>4</a:t>
            </a:r>
            <a:endParaRPr lang="en-US" sz="800" dirty="0"/>
          </a:p>
        </p:txBody>
      </p:sp>
      <p:sp>
        <p:nvSpPr>
          <p:cNvPr id="20" name="Text 17"/>
          <p:cNvSpPr txBox="1"/>
          <p:nvPr/>
        </p:nvSpPr>
        <p:spPr>
          <a:xfrm>
            <a:off x="7813548" y="3872484"/>
            <a:ext cx="237744" cy="164592"/>
          </a:xfrm>
          <a:prstGeom prst="rect">
            <a:avLst/>
          </a:prstGeom>
          <a:solidFill>
            <a:schemeClr val="bg1"/>
          </a:solidFill>
          <a:ln/>
        </p:spPr>
        <p:txBody>
          <a:bodyPr wrap="square" lIns="0" tIns="0" rIns="0" bIns="0" rtlCol="0" anchor="ctr"/>
          <a:lstStyle/>
          <a:p>
            <a:pPr marL="0" indent="0" algn="ctr">
              <a:buNone/>
            </a:pPr>
            <a:r>
              <a:rPr lang="en-US" sz="800" b="1" dirty="0">
                <a:solidFill>
                  <a:schemeClr val="tx1"/>
                </a:solidFill>
              </a:rPr>
              <a:t>9</a:t>
            </a:r>
            <a:endParaRPr lang="en-US" sz="800" dirty="0"/>
          </a:p>
        </p:txBody>
      </p:sp>
      <p:sp>
        <p:nvSpPr>
          <p:cNvPr id="21" name="Text 18"/>
          <p:cNvSpPr txBox="1"/>
          <p:nvPr/>
        </p:nvSpPr>
        <p:spPr>
          <a:xfrm>
            <a:off x="6483096" y="3648456"/>
            <a:ext cx="292608" cy="292608"/>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S</a:t>
            </a:r>
            <a:endParaRPr lang="en-US" sz="800" dirty="0"/>
          </a:p>
        </p:txBody>
      </p:sp>
      <p:sp>
        <p:nvSpPr>
          <p:cNvPr id="22" name="Text 19"/>
          <p:cNvSpPr txBox="1"/>
          <p:nvPr/>
        </p:nvSpPr>
        <p:spPr>
          <a:xfrm>
            <a:off x="7214616" y="3191256"/>
            <a:ext cx="292608" cy="292608"/>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A</a:t>
            </a:r>
            <a:endParaRPr lang="en-US" sz="800" dirty="0"/>
          </a:p>
        </p:txBody>
      </p:sp>
      <p:sp>
        <p:nvSpPr>
          <p:cNvPr id="23" name="Text 20"/>
          <p:cNvSpPr txBox="1"/>
          <p:nvPr/>
        </p:nvSpPr>
        <p:spPr>
          <a:xfrm>
            <a:off x="7214616" y="4014216"/>
            <a:ext cx="292608" cy="292608"/>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B</a:t>
            </a:r>
            <a:endParaRPr lang="en-US" sz="800" dirty="0"/>
          </a:p>
        </p:txBody>
      </p:sp>
      <p:sp>
        <p:nvSpPr>
          <p:cNvPr id="24" name="Text 21"/>
          <p:cNvSpPr txBox="1"/>
          <p:nvPr/>
        </p:nvSpPr>
        <p:spPr>
          <a:xfrm>
            <a:off x="8357616" y="3602736"/>
            <a:ext cx="292608" cy="292608"/>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T</a:t>
            </a:r>
            <a:endParaRPr lang="en-US" sz="800" dirty="0"/>
          </a:p>
        </p:txBody>
      </p:sp>
      <p:sp>
        <p:nvSpPr>
          <p:cNvPr id="25" name="Text 22"/>
          <p:cNvSpPr txBox="1"/>
          <p:nvPr/>
        </p:nvSpPr>
        <p:spPr>
          <a:xfrm>
            <a:off x="6446520" y="4434840"/>
            <a:ext cx="2240280" cy="274320"/>
          </a:xfrm>
          <a:prstGeom prst="rect">
            <a:avLst/>
          </a:prstGeom>
          <a:noFill/>
          <a:ln/>
        </p:spPr>
        <p:txBody>
          <a:bodyPr wrap="square" lIns="0" tIns="0" rIns="0" bIns="0" rtlCol="0" anchor="t"/>
          <a:lstStyle/>
          <a:p>
            <a:pPr marL="0" indent="0">
              <a:buNone/>
            </a:pPr>
            <a:r>
              <a:rPr lang="en-US" sz="750" i="1" dirty="0">
                <a:solidFill>
                  <a:schemeClr val="tx2"/>
                </a:solidFill>
              </a:rPr>
              <a:t>Max flow = 13 = capacity of min cut {A→T, B→T} (amber). Illustrative network.</a:t>
            </a:r>
            <a:endParaRPr lang="en-US" sz="750" dirty="0"/>
          </a:p>
        </p:txBody>
      </p:sp>
      <p:sp>
        <p:nvSpPr>
          <p:cNvPr id="26"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Module 5 — NP-Completeness and Approximation</a:t>
            </a:r>
            <a:endParaRPr lang="en-US" sz="2200" dirty="0"/>
          </a:p>
        </p:txBody>
      </p:sp>
      <p:sp>
        <p:nvSpPr>
          <p:cNvPr id="3" name="Text 1"/>
          <p:cNvSpPr txBox="1"/>
          <p:nvPr/>
        </p:nvSpPr>
        <p:spPr>
          <a:xfrm>
            <a:off x="365760" y="749808"/>
            <a:ext cx="8412480" cy="411480"/>
          </a:xfrm>
          <a:prstGeom prst="rect">
            <a:avLst/>
          </a:prstGeom>
          <a:noFill/>
          <a:ln/>
        </p:spPr>
        <p:txBody>
          <a:bodyPr wrap="square" lIns="0" tIns="0" rIns="0" bIns="0" rtlCol="0" anchor="t"/>
          <a:lstStyle/>
          <a:p>
            <a:pPr marL="0" indent="0">
              <a:buNone/>
            </a:pPr>
            <a:r>
              <a:rPr lang="en-US" sz="1050" b="1" dirty="0">
                <a:solidFill>
                  <a:schemeClr val="accent1"/>
                </a:solidFill>
              </a:rPr>
              <a:t>Problem addressed: </a:t>
            </a:r>
            <a:r>
              <a:rPr lang="en-US" sz="1050" dirty="0">
                <a:solidFill>
                  <a:schemeClr val="tx1"/>
                </a:solidFill>
              </a:rPr>
              <a:t>Understanding computationally difficult constraint problems and using approximation when exact optimisation becomes expensive.</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7607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 in RailSync</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Time complexity</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3-SAT DPLL Solver</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Boolean constraint satisfaction for scheduling scenarios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Worst-case exponential; basic assignment-space bound O(2ⁿ), ignoring propagation overhead</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3-SAT to CLIQUE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Demonstrate a polynomial-time problem reduction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Polynomial in the constructed instance size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NP Reductions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Illustrate relationships among difficult problems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Depends on the particular reduction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Vertex-Cover 2-Approximation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Guaranteed approximate solution for a conflict graph</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O(V+E) using the standard maximal-matching approach</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365760" y="3611880"/>
            <a:ext cx="5760720" cy="457200"/>
          </a:xfrm>
          <a:prstGeom prst="rect">
            <a:avLst/>
          </a:prstGeom>
          <a:solidFill>
            <a:schemeClr val="accent2"/>
          </a:solidFill>
          <a:ln/>
        </p:spPr>
        <p:txBody>
          <a:bodyPr wrap="square" lIns="76200" tIns="76200" rIns="76200" bIns="76200" rtlCol="0" anchor="ctr"/>
          <a:lstStyle/>
          <a:p>
            <a:pPr marL="0" indent="0" algn="ctr">
              <a:buNone/>
            </a:pPr>
            <a:r>
              <a:rPr lang="en-US" sz="1050" b="1" dirty="0">
                <a:solidFill>
                  <a:schemeClr val="tx1"/>
                </a:solidFill>
              </a:rPr>
              <a:t>Guarantee: the standard vertex-cover 2-approximation returns a cover of size at most twice the optimum.</a:t>
            </a:r>
            <a:endParaRPr lang="en-US" sz="1050" dirty="0"/>
          </a:p>
        </p:txBody>
      </p:sp>
      <p:sp>
        <p:nvSpPr>
          <p:cNvPr id="6" name="Text 3"/>
          <p:cNvSpPr txBox="1"/>
          <p:nvPr/>
        </p:nvSpPr>
        <p:spPr>
          <a:xfrm>
            <a:off x="365760" y="4160520"/>
            <a:ext cx="5760720" cy="594360"/>
          </a:xfrm>
          <a:prstGeom prst="rect">
            <a:avLst/>
          </a:prstGeom>
          <a:noFill/>
          <a:ln/>
        </p:spPr>
        <p:txBody>
          <a:bodyPr wrap="square" lIns="0" tIns="0" rIns="0" bIns="0" rtlCol="0" anchor="t"/>
          <a:lstStyle/>
          <a:p>
            <a:pPr marL="0" indent="0">
              <a:buNone/>
            </a:pPr>
            <a:r>
              <a:rPr lang="en-US" sz="800" dirty="0">
                <a:solidFill>
                  <a:schemeClr val="tx2"/>
                </a:solidFill>
              </a:rPr>
              <a:t>n = number of Boolean variables; V, E = vertices and edges of the conflict graph. Exact NP-hard optimisation may need exponential time; approximation gives provable guarantees for the problems it supports.</a:t>
            </a:r>
            <a:endParaRPr lang="en-US" sz="800" dirty="0"/>
          </a:p>
        </p:txBody>
      </p:sp>
      <p:sp>
        <p:nvSpPr>
          <p:cNvPr id="7" name="Shape 4"/>
          <p:cNvSpPr/>
          <p:nvPr/>
        </p:nvSpPr>
        <p:spPr>
          <a:xfrm>
            <a:off x="6355080" y="1261872"/>
            <a:ext cx="2423160" cy="1600200"/>
          </a:xfrm>
          <a:prstGeom prst="rect">
            <a:avLst/>
          </a:prstGeom>
          <a:solidFill>
            <a:schemeClr val="bg1"/>
          </a:solidFill>
          <a:ln w="9525">
            <a:solidFill>
              <a:srgbClr val="CBD5E1"/>
            </a:solidFill>
            <a:prstDash val="solid"/>
          </a:ln>
        </p:spPr>
      </p:sp>
      <p:sp>
        <p:nvSpPr>
          <p:cNvPr id="8" name="Shape 5"/>
          <p:cNvSpPr/>
          <p:nvPr/>
        </p:nvSpPr>
        <p:spPr>
          <a:xfrm>
            <a:off x="6355080" y="1261872"/>
            <a:ext cx="54864" cy="1600200"/>
          </a:xfrm>
          <a:prstGeom prst="rect">
            <a:avLst/>
          </a:prstGeom>
          <a:solidFill>
            <a:schemeClr val="accent1"/>
          </a:solidFill>
          <a:ln w="12700">
            <a:solidFill>
              <a:schemeClr val="accent1"/>
            </a:solidFill>
            <a:prstDash val="solid"/>
          </a:ln>
        </p:spPr>
      </p:sp>
      <p:sp>
        <p:nvSpPr>
          <p:cNvPr id="4" name="Text 6"/>
          <p:cNvSpPr txBox="1"/>
          <p:nvPr/>
        </p:nvSpPr>
        <p:spPr>
          <a:xfrm>
            <a:off x="6492240" y="1325880"/>
            <a:ext cx="2194560" cy="201168"/>
          </a:xfrm>
          <a:prstGeom prst="rect">
            <a:avLst/>
          </a:prstGeom>
          <a:noFill/>
          <a:ln/>
        </p:spPr>
        <p:txBody>
          <a:bodyPr wrap="square" lIns="0" tIns="0" rIns="0" bIns="0" rtlCol="0" anchor="t"/>
          <a:lstStyle/>
          <a:p>
            <a:pPr marL="0" indent="0">
              <a:buNone/>
            </a:pPr>
            <a:r>
              <a:rPr lang="en-US" sz="1000" b="1" dirty="0">
                <a:solidFill>
                  <a:schemeClr val="accent1"/>
                </a:solidFill>
              </a:rPr>
              <a:t>Why it matters</a:t>
            </a:r>
            <a:endParaRPr lang="en-US" sz="1000" dirty="0"/>
          </a:p>
        </p:txBody>
      </p:sp>
      <p:sp>
        <p:nvSpPr>
          <p:cNvPr id="10" name="Text 7"/>
          <p:cNvSpPr txBox="1"/>
          <p:nvPr/>
        </p:nvSpPr>
        <p:spPr>
          <a:xfrm>
            <a:off x="6492240" y="1536192"/>
            <a:ext cx="2212848" cy="1298448"/>
          </a:xfrm>
          <a:prstGeom prst="rect">
            <a:avLst/>
          </a:prstGeom>
          <a:noFill/>
          <a:ln/>
        </p:spPr>
        <p:txBody>
          <a:bodyPr wrap="square" lIns="0" tIns="0" rIns="0" bIns="0" rtlCol="0" anchor="t"/>
          <a:lstStyle/>
          <a:p>
            <a:pPr marL="0" indent="0">
              <a:buNone/>
            </a:pPr>
            <a:r>
              <a:rPr lang="en-US" sz="850" dirty="0">
                <a:solidFill>
                  <a:schemeClr val="tx1"/>
                </a:solidFill>
              </a:rPr>
              <a:t>P: solvable in polynomial time. NP: solutions checkable in polynomial time. NP-complete: in NP and every NP problem reduces to it. NP-hard: at least as hard. Decision problems ask yes/no; optimisation asks for a best value. Reductions transform one problem into another.</a:t>
            </a:r>
            <a:endParaRPr lang="en-US" sz="850" dirty="0"/>
          </a:p>
        </p:txBody>
      </p:sp>
      <p:sp>
        <p:nvSpPr>
          <p:cNvPr id="11" name="Shape 8"/>
          <p:cNvSpPr/>
          <p:nvPr/>
        </p:nvSpPr>
        <p:spPr>
          <a:xfrm>
            <a:off x="6355080" y="2971800"/>
            <a:ext cx="2423160" cy="1783080"/>
          </a:xfrm>
          <a:prstGeom prst="rect">
            <a:avLst/>
          </a:prstGeom>
          <a:solidFill>
            <a:schemeClr val="bg1"/>
          </a:solidFill>
          <a:ln w="9525">
            <a:solidFill>
              <a:srgbClr val="CBD5E1"/>
            </a:solidFill>
            <a:prstDash val="solid"/>
          </a:ln>
        </p:spPr>
      </p:sp>
      <p:sp>
        <p:nvSpPr>
          <p:cNvPr id="12" name="Shape 9"/>
          <p:cNvSpPr/>
          <p:nvPr/>
        </p:nvSpPr>
        <p:spPr>
          <a:xfrm flipV="1">
            <a:off x="6629400" y="3200400"/>
            <a:ext cx="685800" cy="320040"/>
          </a:xfrm>
          <a:prstGeom prst="line">
            <a:avLst/>
          </a:prstGeom>
          <a:noFill/>
          <a:ln w="19050">
            <a:solidFill>
              <a:schemeClr val="tx2"/>
            </a:solidFill>
            <a:prstDash val="solid"/>
          </a:ln>
        </p:spPr>
      </p:sp>
      <p:sp>
        <p:nvSpPr>
          <p:cNvPr id="13" name="Shape 10"/>
          <p:cNvSpPr/>
          <p:nvPr/>
        </p:nvSpPr>
        <p:spPr>
          <a:xfrm>
            <a:off x="7315200" y="3200400"/>
            <a:ext cx="914400" cy="274320"/>
          </a:xfrm>
          <a:prstGeom prst="line">
            <a:avLst/>
          </a:prstGeom>
          <a:noFill/>
          <a:ln w="19050">
            <a:solidFill>
              <a:schemeClr val="tx2"/>
            </a:solidFill>
            <a:prstDash val="solid"/>
          </a:ln>
        </p:spPr>
      </p:sp>
      <p:sp>
        <p:nvSpPr>
          <p:cNvPr id="14" name="Shape 11"/>
          <p:cNvSpPr/>
          <p:nvPr/>
        </p:nvSpPr>
        <p:spPr>
          <a:xfrm flipH="1">
            <a:off x="7955280" y="3474720"/>
            <a:ext cx="274320" cy="685800"/>
          </a:xfrm>
          <a:prstGeom prst="line">
            <a:avLst/>
          </a:prstGeom>
          <a:noFill/>
          <a:ln w="19050">
            <a:solidFill>
              <a:schemeClr val="tx2"/>
            </a:solidFill>
            <a:prstDash val="solid"/>
          </a:ln>
        </p:spPr>
      </p:sp>
      <p:sp>
        <p:nvSpPr>
          <p:cNvPr id="15" name="Shape 12"/>
          <p:cNvSpPr/>
          <p:nvPr/>
        </p:nvSpPr>
        <p:spPr>
          <a:xfrm flipH="1" flipV="1">
            <a:off x="7040880" y="4114800"/>
            <a:ext cx="914400" cy="45720"/>
          </a:xfrm>
          <a:prstGeom prst="line">
            <a:avLst/>
          </a:prstGeom>
          <a:noFill/>
          <a:ln w="19050">
            <a:solidFill>
              <a:schemeClr val="tx2"/>
            </a:solidFill>
            <a:prstDash val="solid"/>
          </a:ln>
        </p:spPr>
      </p:sp>
      <p:sp>
        <p:nvSpPr>
          <p:cNvPr id="16" name="Shape 13"/>
          <p:cNvSpPr/>
          <p:nvPr/>
        </p:nvSpPr>
        <p:spPr>
          <a:xfrm>
            <a:off x="7315200" y="3200400"/>
            <a:ext cx="640080" cy="960120"/>
          </a:xfrm>
          <a:prstGeom prst="line">
            <a:avLst/>
          </a:prstGeom>
          <a:noFill/>
          <a:ln w="19050">
            <a:solidFill>
              <a:schemeClr val="tx2"/>
            </a:solidFill>
            <a:prstDash val="solid"/>
          </a:ln>
        </p:spPr>
      </p:sp>
      <p:sp>
        <p:nvSpPr>
          <p:cNvPr id="17" name="Text 14"/>
          <p:cNvSpPr txBox="1"/>
          <p:nvPr/>
        </p:nvSpPr>
        <p:spPr>
          <a:xfrm>
            <a:off x="6473952" y="3364992"/>
            <a:ext cx="310896" cy="310896"/>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T1</a:t>
            </a:r>
            <a:endParaRPr lang="en-US" sz="800" dirty="0"/>
          </a:p>
        </p:txBody>
      </p:sp>
      <p:sp>
        <p:nvSpPr>
          <p:cNvPr id="18" name="Text 15"/>
          <p:cNvSpPr txBox="1"/>
          <p:nvPr/>
        </p:nvSpPr>
        <p:spPr>
          <a:xfrm>
            <a:off x="7159752" y="3044952"/>
            <a:ext cx="310896" cy="310896"/>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800" b="1" dirty="0">
                <a:solidFill>
                  <a:schemeClr val="tx1"/>
                </a:solidFill>
              </a:rPr>
              <a:t>T2</a:t>
            </a:r>
            <a:endParaRPr lang="en-US" sz="800" dirty="0"/>
          </a:p>
        </p:txBody>
      </p:sp>
      <p:sp>
        <p:nvSpPr>
          <p:cNvPr id="19" name="Text 16"/>
          <p:cNvSpPr txBox="1"/>
          <p:nvPr/>
        </p:nvSpPr>
        <p:spPr>
          <a:xfrm>
            <a:off x="8074152" y="3319272"/>
            <a:ext cx="310896" cy="310896"/>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T3</a:t>
            </a:r>
            <a:endParaRPr lang="en-US" sz="800" dirty="0"/>
          </a:p>
        </p:txBody>
      </p:sp>
      <p:sp>
        <p:nvSpPr>
          <p:cNvPr id="20" name="Text 17"/>
          <p:cNvSpPr txBox="1"/>
          <p:nvPr/>
        </p:nvSpPr>
        <p:spPr>
          <a:xfrm>
            <a:off x="7799832" y="4005072"/>
            <a:ext cx="310896" cy="310896"/>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800" b="1" dirty="0">
                <a:solidFill>
                  <a:schemeClr val="tx1"/>
                </a:solidFill>
              </a:rPr>
              <a:t>T4</a:t>
            </a:r>
            <a:endParaRPr lang="en-US" sz="800" dirty="0"/>
          </a:p>
        </p:txBody>
      </p:sp>
      <p:sp>
        <p:nvSpPr>
          <p:cNvPr id="21" name="Text 18"/>
          <p:cNvSpPr txBox="1"/>
          <p:nvPr/>
        </p:nvSpPr>
        <p:spPr>
          <a:xfrm>
            <a:off x="6885432" y="3959352"/>
            <a:ext cx="310896" cy="310896"/>
          </a:xfrm>
          <a:prstGeom prst="ellipse">
            <a:avLst/>
          </a:prstGeom>
          <a:solidFill>
            <a:schemeClr val="tx1"/>
          </a:solidFill>
          <a:ln>
            <a:solidFill>
              <a:schemeClr val="tx1"/>
            </a:solidFill>
          </a:ln>
        </p:spPr>
        <p:txBody>
          <a:bodyPr wrap="square" lIns="0" tIns="0" rIns="0" bIns="0" rtlCol="0" anchor="ctr"/>
          <a:lstStyle/>
          <a:p>
            <a:pPr marL="0" indent="0" algn="ctr">
              <a:buNone/>
            </a:pPr>
            <a:r>
              <a:rPr lang="en-US" sz="800" b="1" dirty="0">
                <a:solidFill>
                  <a:schemeClr val="bg1"/>
                </a:solidFill>
              </a:rPr>
              <a:t>T5</a:t>
            </a:r>
            <a:endParaRPr lang="en-US" sz="800" dirty="0"/>
          </a:p>
        </p:txBody>
      </p:sp>
      <p:sp>
        <p:nvSpPr>
          <p:cNvPr id="22" name="Text 19"/>
          <p:cNvSpPr txBox="1"/>
          <p:nvPr/>
        </p:nvSpPr>
        <p:spPr>
          <a:xfrm>
            <a:off x="6446520" y="4434840"/>
            <a:ext cx="2240280" cy="274320"/>
          </a:xfrm>
          <a:prstGeom prst="rect">
            <a:avLst/>
          </a:prstGeom>
          <a:noFill/>
          <a:ln/>
        </p:spPr>
        <p:txBody>
          <a:bodyPr wrap="square" lIns="0" tIns="0" rIns="0" bIns="0" rtlCol="0" anchor="t"/>
          <a:lstStyle/>
          <a:p>
            <a:pPr marL="0" indent="0">
              <a:buNone/>
            </a:pPr>
            <a:r>
              <a:rPr lang="en-US" sz="750" i="1" dirty="0">
                <a:solidFill>
                  <a:schemeClr val="tx2"/>
                </a:solidFill>
              </a:rPr>
              <a:t>Trains as nodes, platform conflicts as edges. Highlighted: cover {T2, T4}.</a:t>
            </a:r>
            <a:endParaRPr lang="en-US" sz="7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Module 6 — Randomised and Parallel Algorithms</a:t>
            </a:r>
            <a:endParaRPr lang="en-US" sz="2200" dirty="0"/>
          </a:p>
        </p:txBody>
      </p:sp>
      <p:sp>
        <p:nvSpPr>
          <p:cNvPr id="3" name="Text 1"/>
          <p:cNvSpPr txBox="1"/>
          <p:nvPr/>
        </p:nvSpPr>
        <p:spPr>
          <a:xfrm>
            <a:off x="365760" y="749808"/>
            <a:ext cx="8412480" cy="411480"/>
          </a:xfrm>
          <a:prstGeom prst="rect">
            <a:avLst/>
          </a:prstGeom>
          <a:noFill/>
          <a:ln/>
        </p:spPr>
        <p:txBody>
          <a:bodyPr wrap="square" lIns="0" tIns="0" rIns="0" bIns="0" rtlCol="0" anchor="t"/>
          <a:lstStyle/>
          <a:p>
            <a:pPr marL="0" indent="0">
              <a:buNone/>
            </a:pPr>
            <a:r>
              <a:rPr lang="en-US" sz="1050" b="1" dirty="0">
                <a:solidFill>
                  <a:schemeClr val="accent1"/>
                </a:solidFill>
              </a:rPr>
              <a:t>Problem addressed: </a:t>
            </a:r>
            <a:r>
              <a:rPr lang="en-US" sz="1050" dirty="0">
                <a:solidFill>
                  <a:schemeClr val="tx1"/>
                </a:solidFill>
              </a:rPr>
              <a:t>Demonstrating probabilistic algorithms, streaming data processing and parallel computation.</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76072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 in RailSync</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Time complexity</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Randomised QuickSort</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Sort operational records with improved expected performance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Expected O(n log n), worst O(n²)</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Miller–Rabin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Probabilistic primality-testing demonstration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Depends on input bit length and number of rounds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Reservoir Sampling</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Maintain a sample of k items from a data stream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 time, O(k) space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Blelloch Scan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Prefix sums for cumulative data analysis</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 work, O(log n) span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Parallel Reduce</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Aggregate data using parallel computation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O(n) work, O(log n) span (balanced reduction)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b="1" dirty="0">
                          <a:solidFill>
                            <a:srgbClr val="0B1F3A"/>
                          </a:solidFill>
                          <a:latin typeface="Calibri" pitchFamily="34" charset="0"/>
                          <a:ea typeface="Calibri" pitchFamily="34" charset="-122"/>
                          <a:cs typeface="Calibri" pitchFamily="34" charset="-120"/>
                        </a:rPr>
                        <a:t>Brent’s Theorem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Explain how work and span constrain parallel execution</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850" dirty="0">
                          <a:solidFill>
                            <a:srgbClr val="0B1F3A"/>
                          </a:solidFill>
                          <a:latin typeface="Calibri" pitchFamily="34" charset="0"/>
                          <a:ea typeface="Calibri" pitchFamily="34" charset="-122"/>
                          <a:cs typeface="Calibri" pitchFamily="34" charset="-120"/>
                        </a:rPr>
                        <a:t>Theoretical scheduling bound, not an input-time algorithm</a:t>
                      </a:r>
                      <a:endParaRPr lang="en-US" sz="8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365760" y="4160520"/>
            <a:ext cx="5760720" cy="594360"/>
          </a:xfrm>
          <a:prstGeom prst="rect">
            <a:avLst/>
          </a:prstGeom>
          <a:noFill/>
          <a:ln/>
        </p:spPr>
        <p:txBody>
          <a:bodyPr wrap="square" lIns="0" tIns="0" rIns="0" bIns="0" rtlCol="0" anchor="t"/>
          <a:lstStyle/>
          <a:p>
            <a:pPr marL="0" indent="0">
              <a:buNone/>
            </a:pPr>
            <a:r>
              <a:rPr lang="en-US" sz="800" dirty="0">
                <a:solidFill>
                  <a:schemeClr val="tx2"/>
                </a:solidFill>
              </a:rPr>
              <a:t>n = items, k = sample size, p = processors, T₁ = work (total operations), T∞ = span (longest dependency chain). No measured speedups are claimed; the tree shows structure only.</a:t>
            </a:r>
            <a:endParaRPr lang="en-US" sz="800" dirty="0"/>
          </a:p>
        </p:txBody>
      </p:sp>
      <p:sp>
        <p:nvSpPr>
          <p:cNvPr id="6" name="Shape 3"/>
          <p:cNvSpPr/>
          <p:nvPr/>
        </p:nvSpPr>
        <p:spPr>
          <a:xfrm>
            <a:off x="6355080" y="1261872"/>
            <a:ext cx="2423160" cy="1600200"/>
          </a:xfrm>
          <a:prstGeom prst="rect">
            <a:avLst/>
          </a:prstGeom>
          <a:solidFill>
            <a:schemeClr val="bg1"/>
          </a:solidFill>
          <a:ln w="9525">
            <a:solidFill>
              <a:srgbClr val="CBD5E1"/>
            </a:solidFill>
            <a:prstDash val="solid"/>
          </a:ln>
        </p:spPr>
      </p:sp>
      <p:sp>
        <p:nvSpPr>
          <p:cNvPr id="7" name="Shape 4"/>
          <p:cNvSpPr/>
          <p:nvPr/>
        </p:nvSpPr>
        <p:spPr>
          <a:xfrm>
            <a:off x="6355080" y="1261872"/>
            <a:ext cx="54864" cy="1600200"/>
          </a:xfrm>
          <a:prstGeom prst="rect">
            <a:avLst/>
          </a:prstGeom>
          <a:solidFill>
            <a:schemeClr val="accent1"/>
          </a:solidFill>
          <a:ln w="12700">
            <a:solidFill>
              <a:schemeClr val="accent1"/>
            </a:solidFill>
            <a:prstDash val="solid"/>
          </a:ln>
        </p:spPr>
      </p:sp>
      <p:sp>
        <p:nvSpPr>
          <p:cNvPr id="8" name="Text 5"/>
          <p:cNvSpPr txBox="1"/>
          <p:nvPr/>
        </p:nvSpPr>
        <p:spPr>
          <a:xfrm>
            <a:off x="6492240" y="1325880"/>
            <a:ext cx="2194560" cy="201168"/>
          </a:xfrm>
          <a:prstGeom prst="rect">
            <a:avLst/>
          </a:prstGeom>
          <a:noFill/>
          <a:ln/>
        </p:spPr>
        <p:txBody>
          <a:bodyPr wrap="square" lIns="0" tIns="0" rIns="0" bIns="0" rtlCol="0" anchor="t"/>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6492240" y="1536192"/>
            <a:ext cx="2212848" cy="1298448"/>
          </a:xfrm>
          <a:prstGeom prst="rect">
            <a:avLst/>
          </a:prstGeom>
          <a:noFill/>
          <a:ln/>
        </p:spPr>
        <p:txBody>
          <a:bodyPr wrap="square" lIns="0" tIns="0" rIns="0" bIns="0" rtlCol="0" anchor="t"/>
          <a:lstStyle/>
          <a:p>
            <a:pPr marL="0" indent="0">
              <a:buNone/>
            </a:pPr>
            <a:r>
              <a:rPr lang="en-US" sz="850" dirty="0">
                <a:solidFill>
                  <a:schemeClr val="tx1"/>
                </a:solidFill>
              </a:rPr>
              <a:t>Expected time averages over the algorithm’s own random choices; Miller–Rabin instead has a probability of error that shrinks with more rounds. Work counts total operations, span bounds elapsed time with unlimited processors, and Brent: Tp ≤ T₁/p + T∞.</a:t>
            </a:r>
            <a:endParaRPr lang="en-US" sz="850" dirty="0"/>
          </a:p>
        </p:txBody>
      </p:sp>
      <p:sp>
        <p:nvSpPr>
          <p:cNvPr id="4" name="Shape 7"/>
          <p:cNvSpPr/>
          <p:nvPr/>
        </p:nvSpPr>
        <p:spPr>
          <a:xfrm>
            <a:off x="6355080" y="2971800"/>
            <a:ext cx="2423160" cy="1783080"/>
          </a:xfrm>
          <a:prstGeom prst="rect">
            <a:avLst/>
          </a:prstGeom>
          <a:solidFill>
            <a:schemeClr val="bg1"/>
          </a:solidFill>
          <a:ln w="9525">
            <a:solidFill>
              <a:srgbClr val="CBD5E1"/>
            </a:solidFill>
            <a:prstDash val="solid"/>
          </a:ln>
        </p:spPr>
      </p:sp>
      <p:sp>
        <p:nvSpPr>
          <p:cNvPr id="11" name="Shape 8"/>
          <p:cNvSpPr/>
          <p:nvPr/>
        </p:nvSpPr>
        <p:spPr>
          <a:xfrm flipV="1">
            <a:off x="6537960" y="3840480"/>
            <a:ext cx="137160" cy="365760"/>
          </a:xfrm>
          <a:prstGeom prst="line">
            <a:avLst/>
          </a:prstGeom>
          <a:noFill/>
          <a:ln w="12700">
            <a:solidFill>
              <a:schemeClr val="tx2"/>
            </a:solidFill>
            <a:prstDash val="solid"/>
          </a:ln>
        </p:spPr>
      </p:sp>
      <p:sp>
        <p:nvSpPr>
          <p:cNvPr id="12" name="Shape 9"/>
          <p:cNvSpPr/>
          <p:nvPr/>
        </p:nvSpPr>
        <p:spPr>
          <a:xfrm flipH="1" flipV="1">
            <a:off x="6675120" y="3840480"/>
            <a:ext cx="137160" cy="365760"/>
          </a:xfrm>
          <a:prstGeom prst="line">
            <a:avLst/>
          </a:prstGeom>
          <a:noFill/>
          <a:ln w="12700">
            <a:solidFill>
              <a:schemeClr val="tx2"/>
            </a:solidFill>
            <a:prstDash val="solid"/>
          </a:ln>
        </p:spPr>
      </p:sp>
      <p:sp>
        <p:nvSpPr>
          <p:cNvPr id="13" name="Shape 10"/>
          <p:cNvSpPr/>
          <p:nvPr/>
        </p:nvSpPr>
        <p:spPr>
          <a:xfrm flipV="1">
            <a:off x="7086600" y="3840480"/>
            <a:ext cx="137160" cy="365760"/>
          </a:xfrm>
          <a:prstGeom prst="line">
            <a:avLst/>
          </a:prstGeom>
          <a:noFill/>
          <a:ln w="12700">
            <a:solidFill>
              <a:schemeClr val="tx2"/>
            </a:solidFill>
            <a:prstDash val="solid"/>
          </a:ln>
        </p:spPr>
      </p:sp>
      <p:sp>
        <p:nvSpPr>
          <p:cNvPr id="14" name="Shape 11"/>
          <p:cNvSpPr/>
          <p:nvPr/>
        </p:nvSpPr>
        <p:spPr>
          <a:xfrm flipH="1" flipV="1">
            <a:off x="7223760" y="3840480"/>
            <a:ext cx="137160" cy="365760"/>
          </a:xfrm>
          <a:prstGeom prst="line">
            <a:avLst/>
          </a:prstGeom>
          <a:noFill/>
          <a:ln w="12700">
            <a:solidFill>
              <a:schemeClr val="tx2"/>
            </a:solidFill>
            <a:prstDash val="solid"/>
          </a:ln>
        </p:spPr>
      </p:sp>
      <p:sp>
        <p:nvSpPr>
          <p:cNvPr id="15" name="Shape 12"/>
          <p:cNvSpPr/>
          <p:nvPr/>
        </p:nvSpPr>
        <p:spPr>
          <a:xfrm flipV="1">
            <a:off x="7635240" y="3840480"/>
            <a:ext cx="137160" cy="365760"/>
          </a:xfrm>
          <a:prstGeom prst="line">
            <a:avLst/>
          </a:prstGeom>
          <a:noFill/>
          <a:ln w="12700">
            <a:solidFill>
              <a:schemeClr val="tx2"/>
            </a:solidFill>
            <a:prstDash val="solid"/>
          </a:ln>
        </p:spPr>
      </p:sp>
      <p:sp>
        <p:nvSpPr>
          <p:cNvPr id="16" name="Shape 13"/>
          <p:cNvSpPr/>
          <p:nvPr/>
        </p:nvSpPr>
        <p:spPr>
          <a:xfrm flipH="1" flipV="1">
            <a:off x="7772400" y="3840480"/>
            <a:ext cx="137160" cy="365760"/>
          </a:xfrm>
          <a:prstGeom prst="line">
            <a:avLst/>
          </a:prstGeom>
          <a:noFill/>
          <a:ln w="12700">
            <a:solidFill>
              <a:schemeClr val="tx2"/>
            </a:solidFill>
            <a:prstDash val="solid"/>
          </a:ln>
        </p:spPr>
      </p:sp>
      <p:sp>
        <p:nvSpPr>
          <p:cNvPr id="17" name="Shape 14"/>
          <p:cNvSpPr/>
          <p:nvPr/>
        </p:nvSpPr>
        <p:spPr>
          <a:xfrm flipV="1">
            <a:off x="8183880" y="3840480"/>
            <a:ext cx="137160" cy="365760"/>
          </a:xfrm>
          <a:prstGeom prst="line">
            <a:avLst/>
          </a:prstGeom>
          <a:noFill/>
          <a:ln w="12700">
            <a:solidFill>
              <a:schemeClr val="tx2"/>
            </a:solidFill>
            <a:prstDash val="solid"/>
          </a:ln>
        </p:spPr>
      </p:sp>
      <p:sp>
        <p:nvSpPr>
          <p:cNvPr id="18" name="Shape 15"/>
          <p:cNvSpPr/>
          <p:nvPr/>
        </p:nvSpPr>
        <p:spPr>
          <a:xfrm flipH="1" flipV="1">
            <a:off x="8321040" y="3840480"/>
            <a:ext cx="137160" cy="365760"/>
          </a:xfrm>
          <a:prstGeom prst="line">
            <a:avLst/>
          </a:prstGeom>
          <a:noFill/>
          <a:ln w="12700">
            <a:solidFill>
              <a:schemeClr val="tx2"/>
            </a:solidFill>
            <a:prstDash val="solid"/>
          </a:ln>
        </p:spPr>
      </p:sp>
      <p:sp>
        <p:nvSpPr>
          <p:cNvPr id="19" name="Shape 16"/>
          <p:cNvSpPr/>
          <p:nvPr/>
        </p:nvSpPr>
        <p:spPr>
          <a:xfrm flipV="1">
            <a:off x="6675120" y="3520440"/>
            <a:ext cx="274320" cy="320040"/>
          </a:xfrm>
          <a:prstGeom prst="line">
            <a:avLst/>
          </a:prstGeom>
          <a:noFill/>
          <a:ln w="12700">
            <a:solidFill>
              <a:schemeClr val="tx2"/>
            </a:solidFill>
            <a:prstDash val="solid"/>
          </a:ln>
        </p:spPr>
      </p:sp>
      <p:sp>
        <p:nvSpPr>
          <p:cNvPr id="20" name="Shape 17"/>
          <p:cNvSpPr/>
          <p:nvPr/>
        </p:nvSpPr>
        <p:spPr>
          <a:xfrm flipH="1" flipV="1">
            <a:off x="6949440" y="3520440"/>
            <a:ext cx="274320" cy="320040"/>
          </a:xfrm>
          <a:prstGeom prst="line">
            <a:avLst/>
          </a:prstGeom>
          <a:noFill/>
          <a:ln w="12700">
            <a:solidFill>
              <a:schemeClr val="tx2"/>
            </a:solidFill>
            <a:prstDash val="solid"/>
          </a:ln>
        </p:spPr>
      </p:sp>
      <p:sp>
        <p:nvSpPr>
          <p:cNvPr id="21" name="Shape 18"/>
          <p:cNvSpPr/>
          <p:nvPr/>
        </p:nvSpPr>
        <p:spPr>
          <a:xfrm flipV="1">
            <a:off x="7772400" y="3520440"/>
            <a:ext cx="274320" cy="320040"/>
          </a:xfrm>
          <a:prstGeom prst="line">
            <a:avLst/>
          </a:prstGeom>
          <a:noFill/>
          <a:ln w="12700">
            <a:solidFill>
              <a:schemeClr val="tx2"/>
            </a:solidFill>
            <a:prstDash val="solid"/>
          </a:ln>
        </p:spPr>
      </p:sp>
      <p:sp>
        <p:nvSpPr>
          <p:cNvPr id="22" name="Shape 19"/>
          <p:cNvSpPr/>
          <p:nvPr/>
        </p:nvSpPr>
        <p:spPr>
          <a:xfrm flipH="1" flipV="1">
            <a:off x="8046720" y="3520440"/>
            <a:ext cx="274320" cy="320040"/>
          </a:xfrm>
          <a:prstGeom prst="line">
            <a:avLst/>
          </a:prstGeom>
          <a:noFill/>
          <a:ln w="12700">
            <a:solidFill>
              <a:schemeClr val="tx2"/>
            </a:solidFill>
            <a:prstDash val="solid"/>
          </a:ln>
        </p:spPr>
      </p:sp>
      <p:sp>
        <p:nvSpPr>
          <p:cNvPr id="23" name="Shape 20"/>
          <p:cNvSpPr/>
          <p:nvPr/>
        </p:nvSpPr>
        <p:spPr>
          <a:xfrm flipV="1">
            <a:off x="6949440" y="3200400"/>
            <a:ext cx="548640" cy="320040"/>
          </a:xfrm>
          <a:prstGeom prst="line">
            <a:avLst/>
          </a:prstGeom>
          <a:noFill/>
          <a:ln w="12700">
            <a:solidFill>
              <a:schemeClr val="tx2"/>
            </a:solidFill>
            <a:prstDash val="solid"/>
          </a:ln>
        </p:spPr>
      </p:sp>
      <p:sp>
        <p:nvSpPr>
          <p:cNvPr id="24" name="Shape 21"/>
          <p:cNvSpPr/>
          <p:nvPr/>
        </p:nvSpPr>
        <p:spPr>
          <a:xfrm flipH="1" flipV="1">
            <a:off x="7498080" y="3200400"/>
            <a:ext cx="548640" cy="320040"/>
          </a:xfrm>
          <a:prstGeom prst="line">
            <a:avLst/>
          </a:prstGeom>
          <a:noFill/>
          <a:ln w="12700">
            <a:solidFill>
              <a:schemeClr val="tx2"/>
            </a:solidFill>
            <a:prstDash val="solid"/>
          </a:ln>
        </p:spPr>
      </p:sp>
      <p:sp>
        <p:nvSpPr>
          <p:cNvPr id="25" name="Text 22"/>
          <p:cNvSpPr txBox="1"/>
          <p:nvPr/>
        </p:nvSpPr>
        <p:spPr>
          <a:xfrm>
            <a:off x="643737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26" name="Text 23"/>
          <p:cNvSpPr txBox="1"/>
          <p:nvPr/>
        </p:nvSpPr>
        <p:spPr>
          <a:xfrm>
            <a:off x="671169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27" name="Text 24"/>
          <p:cNvSpPr txBox="1"/>
          <p:nvPr/>
        </p:nvSpPr>
        <p:spPr>
          <a:xfrm>
            <a:off x="698601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28" name="Text 25"/>
          <p:cNvSpPr txBox="1"/>
          <p:nvPr/>
        </p:nvSpPr>
        <p:spPr>
          <a:xfrm>
            <a:off x="726033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29" name="Text 26"/>
          <p:cNvSpPr txBox="1"/>
          <p:nvPr/>
        </p:nvSpPr>
        <p:spPr>
          <a:xfrm>
            <a:off x="753465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30" name="Text 27"/>
          <p:cNvSpPr txBox="1"/>
          <p:nvPr/>
        </p:nvSpPr>
        <p:spPr>
          <a:xfrm>
            <a:off x="780897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31" name="Text 28"/>
          <p:cNvSpPr txBox="1"/>
          <p:nvPr/>
        </p:nvSpPr>
        <p:spPr>
          <a:xfrm>
            <a:off x="808329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32" name="Text 29"/>
          <p:cNvSpPr txBox="1"/>
          <p:nvPr/>
        </p:nvSpPr>
        <p:spPr>
          <a:xfrm>
            <a:off x="8357616" y="4105656"/>
            <a:ext cx="201168" cy="201168"/>
          </a:xfrm>
          <a:prstGeom prst="ellipse">
            <a:avLst/>
          </a:prstGeom>
          <a:solidFill>
            <a:schemeClr val="accent3"/>
          </a:solidFill>
          <a:ln>
            <a:solidFill>
              <a:schemeClr val="accent3"/>
            </a:solidFill>
          </a:ln>
        </p:spPr>
        <p:txBody>
          <a:bodyPr wrap="square" lIns="0" tIns="0" rIns="0" bIns="0" rtlCol="0" anchor="ctr"/>
          <a:lstStyle/>
          <a:p>
            <a:pPr marL="0" indent="0" algn="ctr">
              <a:buNone/>
            </a:pPr>
            <a:endParaRPr lang="en-US" sz="800" dirty="0"/>
          </a:p>
        </p:txBody>
      </p:sp>
      <p:sp>
        <p:nvSpPr>
          <p:cNvPr id="33" name="Text 30"/>
          <p:cNvSpPr txBox="1"/>
          <p:nvPr/>
        </p:nvSpPr>
        <p:spPr>
          <a:xfrm>
            <a:off x="6574536" y="3739896"/>
            <a:ext cx="201168" cy="201168"/>
          </a:xfrm>
          <a:prstGeom prst="ellipse">
            <a:avLst/>
          </a:prstGeom>
          <a:solidFill>
            <a:schemeClr val="accent1"/>
          </a:solidFill>
          <a:ln>
            <a:solidFill>
              <a:schemeClr val="accent1"/>
            </a:solidFill>
          </a:ln>
        </p:spPr>
        <p:txBody>
          <a:bodyPr wrap="square" lIns="0" tIns="0" rIns="0" bIns="0" rtlCol="0" anchor="ctr"/>
          <a:lstStyle/>
          <a:p>
            <a:pPr marL="0" indent="0" algn="ctr">
              <a:buNone/>
            </a:pPr>
            <a:endParaRPr lang="en-US" sz="800" dirty="0"/>
          </a:p>
        </p:txBody>
      </p:sp>
      <p:sp>
        <p:nvSpPr>
          <p:cNvPr id="34" name="Text 31"/>
          <p:cNvSpPr txBox="1"/>
          <p:nvPr/>
        </p:nvSpPr>
        <p:spPr>
          <a:xfrm>
            <a:off x="7123176" y="3739896"/>
            <a:ext cx="201168" cy="201168"/>
          </a:xfrm>
          <a:prstGeom prst="ellipse">
            <a:avLst/>
          </a:prstGeom>
          <a:solidFill>
            <a:schemeClr val="accent1"/>
          </a:solidFill>
          <a:ln>
            <a:solidFill>
              <a:schemeClr val="accent1"/>
            </a:solidFill>
          </a:ln>
        </p:spPr>
        <p:txBody>
          <a:bodyPr wrap="square" lIns="0" tIns="0" rIns="0" bIns="0" rtlCol="0" anchor="ctr"/>
          <a:lstStyle/>
          <a:p>
            <a:pPr marL="0" indent="0" algn="ctr">
              <a:buNone/>
            </a:pPr>
            <a:endParaRPr lang="en-US" sz="800" dirty="0"/>
          </a:p>
        </p:txBody>
      </p:sp>
      <p:sp>
        <p:nvSpPr>
          <p:cNvPr id="35" name="Text 32"/>
          <p:cNvSpPr txBox="1"/>
          <p:nvPr/>
        </p:nvSpPr>
        <p:spPr>
          <a:xfrm>
            <a:off x="7671816" y="3739896"/>
            <a:ext cx="201168" cy="201168"/>
          </a:xfrm>
          <a:prstGeom prst="ellipse">
            <a:avLst/>
          </a:prstGeom>
          <a:solidFill>
            <a:schemeClr val="accent1"/>
          </a:solidFill>
          <a:ln>
            <a:solidFill>
              <a:schemeClr val="accent1"/>
            </a:solidFill>
          </a:ln>
        </p:spPr>
        <p:txBody>
          <a:bodyPr wrap="square" lIns="0" tIns="0" rIns="0" bIns="0" rtlCol="0" anchor="ctr"/>
          <a:lstStyle/>
          <a:p>
            <a:pPr marL="0" indent="0" algn="ctr">
              <a:buNone/>
            </a:pPr>
            <a:endParaRPr lang="en-US" sz="800" dirty="0"/>
          </a:p>
        </p:txBody>
      </p:sp>
      <p:sp>
        <p:nvSpPr>
          <p:cNvPr id="36" name="Text 33"/>
          <p:cNvSpPr txBox="1"/>
          <p:nvPr/>
        </p:nvSpPr>
        <p:spPr>
          <a:xfrm>
            <a:off x="8220456" y="3739896"/>
            <a:ext cx="201168" cy="201168"/>
          </a:xfrm>
          <a:prstGeom prst="ellipse">
            <a:avLst/>
          </a:prstGeom>
          <a:solidFill>
            <a:schemeClr val="accent1"/>
          </a:solidFill>
          <a:ln>
            <a:solidFill>
              <a:schemeClr val="accent1"/>
            </a:solidFill>
          </a:ln>
        </p:spPr>
        <p:txBody>
          <a:bodyPr wrap="square" lIns="0" tIns="0" rIns="0" bIns="0" rtlCol="0" anchor="ctr"/>
          <a:lstStyle/>
          <a:p>
            <a:pPr marL="0" indent="0" algn="ctr">
              <a:buNone/>
            </a:pPr>
            <a:endParaRPr lang="en-US" sz="800" dirty="0"/>
          </a:p>
        </p:txBody>
      </p:sp>
      <p:sp>
        <p:nvSpPr>
          <p:cNvPr id="37" name="Text 34"/>
          <p:cNvSpPr txBox="1"/>
          <p:nvPr/>
        </p:nvSpPr>
        <p:spPr>
          <a:xfrm>
            <a:off x="6848856" y="3419856"/>
            <a:ext cx="201168" cy="201168"/>
          </a:xfrm>
          <a:prstGeom prst="ellipse">
            <a:avLst/>
          </a:prstGeom>
          <a:solidFill>
            <a:schemeClr val="accent1"/>
          </a:solidFill>
          <a:ln>
            <a:solidFill>
              <a:schemeClr val="accent1"/>
            </a:solidFill>
          </a:ln>
        </p:spPr>
        <p:txBody>
          <a:bodyPr wrap="square" lIns="0" tIns="0" rIns="0" bIns="0" rtlCol="0" anchor="ctr"/>
          <a:lstStyle/>
          <a:p>
            <a:pPr marL="0" indent="0" algn="ctr">
              <a:buNone/>
            </a:pPr>
            <a:endParaRPr lang="en-US" sz="800" dirty="0"/>
          </a:p>
        </p:txBody>
      </p:sp>
      <p:sp>
        <p:nvSpPr>
          <p:cNvPr id="38" name="Text 35"/>
          <p:cNvSpPr txBox="1"/>
          <p:nvPr/>
        </p:nvSpPr>
        <p:spPr>
          <a:xfrm>
            <a:off x="7946136" y="3419856"/>
            <a:ext cx="201168" cy="201168"/>
          </a:xfrm>
          <a:prstGeom prst="ellipse">
            <a:avLst/>
          </a:prstGeom>
          <a:solidFill>
            <a:schemeClr val="accent1"/>
          </a:solidFill>
          <a:ln>
            <a:solidFill>
              <a:schemeClr val="accent1"/>
            </a:solidFill>
          </a:ln>
        </p:spPr>
        <p:txBody>
          <a:bodyPr wrap="square" lIns="0" tIns="0" rIns="0" bIns="0" rtlCol="0" anchor="ctr"/>
          <a:lstStyle/>
          <a:p>
            <a:pPr marL="0" indent="0" algn="ctr">
              <a:buNone/>
            </a:pPr>
            <a:endParaRPr lang="en-US" sz="800" dirty="0"/>
          </a:p>
        </p:txBody>
      </p:sp>
      <p:sp>
        <p:nvSpPr>
          <p:cNvPr id="39" name="Text 36"/>
          <p:cNvSpPr txBox="1"/>
          <p:nvPr/>
        </p:nvSpPr>
        <p:spPr>
          <a:xfrm>
            <a:off x="7379208" y="3081528"/>
            <a:ext cx="237744" cy="237744"/>
          </a:xfrm>
          <a:prstGeom prst="ellipse">
            <a:avLst/>
          </a:prstGeom>
          <a:solidFill>
            <a:schemeClr val="accent2"/>
          </a:solidFill>
          <a:ln>
            <a:solidFill>
              <a:schemeClr val="accent2"/>
            </a:solidFill>
          </a:ln>
        </p:spPr>
        <p:txBody>
          <a:bodyPr wrap="square" lIns="0" tIns="0" rIns="0" bIns="0" rtlCol="0" anchor="ctr"/>
          <a:lstStyle/>
          <a:p>
            <a:pPr marL="0" indent="0" algn="ctr">
              <a:buNone/>
            </a:pPr>
            <a:endParaRPr lang="en-US" sz="800" dirty="0"/>
          </a:p>
        </p:txBody>
      </p:sp>
      <p:sp>
        <p:nvSpPr>
          <p:cNvPr id="40" name="Text 37"/>
          <p:cNvSpPr txBox="1"/>
          <p:nvPr/>
        </p:nvSpPr>
        <p:spPr>
          <a:xfrm>
            <a:off x="6446520" y="4434840"/>
            <a:ext cx="2240280" cy="274320"/>
          </a:xfrm>
          <a:prstGeom prst="rect">
            <a:avLst/>
          </a:prstGeom>
          <a:noFill/>
          <a:ln/>
        </p:spPr>
        <p:txBody>
          <a:bodyPr wrap="square" lIns="0" tIns="0" rIns="0" bIns="0" rtlCol="0" anchor="t"/>
          <a:lstStyle/>
          <a:p>
            <a:pPr marL="0" indent="0">
              <a:buNone/>
            </a:pPr>
            <a:r>
              <a:rPr lang="en-US" sz="750" i="1" dirty="0">
                <a:solidFill>
                  <a:schemeClr val="tx2"/>
                </a:solidFill>
              </a:rPr>
              <a:t>Parallel reduction tree: 8 items combine in log₂ 8 = 3 levels.</a:t>
            </a:r>
            <a:endParaRPr lang="en-US" sz="750" dirty="0"/>
          </a:p>
        </p:txBody>
      </p:sp>
      <p:sp>
        <p:nvSpPr>
          <p:cNvPr id="41"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365760" y="182880"/>
            <a:ext cx="8412480" cy="502920"/>
          </a:xfrm>
          <a:prstGeom prst="rect">
            <a:avLst/>
          </a:prstGeom>
          <a:noFill/>
          <a:ln/>
        </p:spPr>
        <p:txBody>
          <a:bodyPr wrap="square" lIns="0" tIns="0" rIns="0" bIns="0" rtlCol="0" anchor="ctr"/>
          <a:lstStyle/>
          <a:p>
            <a:pPr marL="0" indent="0" algn="l">
              <a:buNone/>
            </a:pPr>
            <a:r>
              <a:rPr lang="en-US" sz="2200" b="1" dirty="0">
                <a:solidFill>
                  <a:schemeClr val="tx1"/>
                </a:solidFill>
              </a:rPr>
              <a:t>Conclusion</a:t>
            </a:r>
            <a:endParaRPr lang="en-US" sz="2200" dirty="0"/>
          </a:p>
        </p:txBody>
      </p:sp>
      <p:sp>
        <p:nvSpPr>
          <p:cNvPr id="3" name="Shape 1"/>
          <p:cNvSpPr/>
          <p:nvPr/>
        </p:nvSpPr>
        <p:spPr>
          <a:xfrm>
            <a:off x="365760" y="868680"/>
            <a:ext cx="2697480" cy="960120"/>
          </a:xfrm>
          <a:prstGeom prst="rect">
            <a:avLst/>
          </a:prstGeom>
          <a:solidFill>
            <a:schemeClr val="bg1"/>
          </a:solidFill>
          <a:ln w="9525">
            <a:solidFill>
              <a:srgbClr val="CBD5E1"/>
            </a:solidFill>
            <a:prstDash val="solid"/>
          </a:ln>
        </p:spPr>
      </p:sp>
      <p:sp>
        <p:nvSpPr>
          <p:cNvPr id="4" name="Shape 2"/>
          <p:cNvSpPr/>
          <p:nvPr/>
        </p:nvSpPr>
        <p:spPr>
          <a:xfrm>
            <a:off x="365760" y="868680"/>
            <a:ext cx="54864" cy="960120"/>
          </a:xfrm>
          <a:prstGeom prst="rect">
            <a:avLst/>
          </a:prstGeom>
          <a:solidFill>
            <a:schemeClr val="accent1"/>
          </a:solidFill>
          <a:ln w="12700">
            <a:solidFill>
              <a:schemeClr val="accent1"/>
            </a:solidFill>
            <a:prstDash val="solid"/>
          </a:ln>
        </p:spPr>
      </p:sp>
      <p:sp>
        <p:nvSpPr>
          <p:cNvPr id="5" name="Text 3"/>
          <p:cNvSpPr txBox="1"/>
          <p:nvPr/>
        </p:nvSpPr>
        <p:spPr>
          <a:xfrm>
            <a:off x="530352" y="960120"/>
            <a:ext cx="2423160" cy="777240"/>
          </a:xfrm>
          <a:prstGeom prst="rect">
            <a:avLst/>
          </a:prstGeom>
          <a:noFill/>
          <a:ln/>
        </p:spPr>
        <p:txBody>
          <a:bodyPr wrap="square" lIns="0" tIns="0" rIns="0" bIns="0" rtlCol="0" anchor="t"/>
          <a:lstStyle/>
          <a:p>
            <a:pPr marL="0" indent="0">
              <a:spcAft>
                <a:spcPts val="400"/>
              </a:spcAft>
              <a:buNone/>
            </a:pPr>
            <a:r>
              <a:rPr lang="en-US" sz="1100" b="1" dirty="0">
                <a:solidFill>
                  <a:schemeClr val="accent1"/>
                </a:solidFill>
              </a:rPr>
              <a:t>M1 · String Algorithms</a:t>
            </a:r>
            <a:endParaRPr lang="en-US" sz="1100" dirty="0"/>
          </a:p>
          <a:p>
            <a:pPr marL="0" indent="0">
              <a:spcAft>
                <a:spcPts val="400"/>
              </a:spcAft>
              <a:buNone/>
            </a:pPr>
            <a:r>
              <a:rPr lang="en-US" sz="1000" dirty="0">
                <a:solidFill>
                  <a:schemeClr val="tx1"/>
                </a:solidFill>
              </a:rPr>
              <a:t>Efficient pattern matching and multi-keyword search.</a:t>
            </a:r>
            <a:endParaRPr lang="en-US" sz="1100" dirty="0"/>
          </a:p>
        </p:txBody>
      </p:sp>
      <p:sp>
        <p:nvSpPr>
          <p:cNvPr id="6" name="Shape 4"/>
          <p:cNvSpPr/>
          <p:nvPr/>
        </p:nvSpPr>
        <p:spPr>
          <a:xfrm>
            <a:off x="3223260" y="868680"/>
            <a:ext cx="2697480" cy="960120"/>
          </a:xfrm>
          <a:prstGeom prst="rect">
            <a:avLst/>
          </a:prstGeom>
          <a:solidFill>
            <a:schemeClr val="bg1"/>
          </a:solidFill>
          <a:ln w="9525">
            <a:solidFill>
              <a:srgbClr val="CBD5E1"/>
            </a:solidFill>
            <a:prstDash val="solid"/>
          </a:ln>
        </p:spPr>
      </p:sp>
      <p:sp>
        <p:nvSpPr>
          <p:cNvPr id="7" name="Shape 5"/>
          <p:cNvSpPr/>
          <p:nvPr/>
        </p:nvSpPr>
        <p:spPr>
          <a:xfrm>
            <a:off x="3223260" y="868680"/>
            <a:ext cx="54864" cy="960120"/>
          </a:xfrm>
          <a:prstGeom prst="rect">
            <a:avLst/>
          </a:prstGeom>
          <a:solidFill>
            <a:schemeClr val="accent1"/>
          </a:solidFill>
          <a:ln w="12700">
            <a:solidFill>
              <a:schemeClr val="accent1"/>
            </a:solidFill>
            <a:prstDash val="solid"/>
          </a:ln>
        </p:spPr>
      </p:sp>
      <p:sp>
        <p:nvSpPr>
          <p:cNvPr id="8" name="Text 6"/>
          <p:cNvSpPr txBox="1"/>
          <p:nvPr/>
        </p:nvSpPr>
        <p:spPr>
          <a:xfrm>
            <a:off x="3387852" y="960120"/>
            <a:ext cx="2423160" cy="777240"/>
          </a:xfrm>
          <a:prstGeom prst="rect">
            <a:avLst/>
          </a:prstGeom>
          <a:noFill/>
          <a:ln/>
        </p:spPr>
        <p:txBody>
          <a:bodyPr wrap="square" lIns="0" tIns="0" rIns="0" bIns="0" rtlCol="0" anchor="t"/>
          <a:lstStyle/>
          <a:p>
            <a:pPr marL="0" indent="0">
              <a:spcAft>
                <a:spcPts val="400"/>
              </a:spcAft>
              <a:buNone/>
            </a:pPr>
            <a:r>
              <a:rPr lang="en-US" sz="1100" b="1" dirty="0">
                <a:solidFill>
                  <a:schemeClr val="accent1"/>
                </a:solidFill>
              </a:rPr>
              <a:t>M2 · Suffix Structures</a:t>
            </a:r>
            <a:endParaRPr lang="en-US" sz="1100" dirty="0"/>
          </a:p>
          <a:p>
            <a:pPr marL="0" indent="0">
              <a:spcAft>
                <a:spcPts val="400"/>
              </a:spcAft>
              <a:buNone/>
            </a:pPr>
            <a:r>
              <a:rPr lang="en-US" sz="1000" dirty="0">
                <a:solidFill>
                  <a:schemeClr val="tx1"/>
                </a:solidFill>
              </a:rPr>
              <a:t>Substring indexing and repeated-text analysis.</a:t>
            </a:r>
            <a:endParaRPr lang="en-US" sz="1100" dirty="0"/>
          </a:p>
        </p:txBody>
      </p:sp>
      <p:sp>
        <p:nvSpPr>
          <p:cNvPr id="9" name="Shape 7"/>
          <p:cNvSpPr/>
          <p:nvPr/>
        </p:nvSpPr>
        <p:spPr>
          <a:xfrm>
            <a:off x="6080760" y="868680"/>
            <a:ext cx="2697480" cy="960120"/>
          </a:xfrm>
          <a:prstGeom prst="rect">
            <a:avLst/>
          </a:prstGeom>
          <a:solidFill>
            <a:schemeClr val="bg1"/>
          </a:solidFill>
          <a:ln w="9525">
            <a:solidFill>
              <a:srgbClr val="CBD5E1"/>
            </a:solidFill>
            <a:prstDash val="solid"/>
          </a:ln>
        </p:spPr>
      </p:sp>
      <p:sp>
        <p:nvSpPr>
          <p:cNvPr id="10" name="Shape 8"/>
          <p:cNvSpPr/>
          <p:nvPr/>
        </p:nvSpPr>
        <p:spPr>
          <a:xfrm>
            <a:off x="6080760" y="868680"/>
            <a:ext cx="54864" cy="960120"/>
          </a:xfrm>
          <a:prstGeom prst="rect">
            <a:avLst/>
          </a:prstGeom>
          <a:solidFill>
            <a:schemeClr val="accent1"/>
          </a:solidFill>
          <a:ln w="12700">
            <a:solidFill>
              <a:schemeClr val="accent1"/>
            </a:solidFill>
            <a:prstDash val="solid"/>
          </a:ln>
        </p:spPr>
      </p:sp>
      <p:sp>
        <p:nvSpPr>
          <p:cNvPr id="11" name="Text 9"/>
          <p:cNvSpPr txBox="1"/>
          <p:nvPr/>
        </p:nvSpPr>
        <p:spPr>
          <a:xfrm>
            <a:off x="6245352" y="960120"/>
            <a:ext cx="2423160" cy="777240"/>
          </a:xfrm>
          <a:prstGeom prst="rect">
            <a:avLst/>
          </a:prstGeom>
          <a:noFill/>
          <a:ln/>
        </p:spPr>
        <p:txBody>
          <a:bodyPr wrap="square" lIns="0" tIns="0" rIns="0" bIns="0" rtlCol="0" anchor="t"/>
          <a:lstStyle/>
          <a:p>
            <a:pPr marL="0" indent="0">
              <a:spcAft>
                <a:spcPts val="400"/>
              </a:spcAft>
              <a:buNone/>
            </a:pPr>
            <a:r>
              <a:rPr lang="en-US" sz="1100" b="1" dirty="0">
                <a:solidFill>
                  <a:schemeClr val="accent1"/>
                </a:solidFill>
              </a:rPr>
              <a:t>M3 · Dynamic Programming</a:t>
            </a:r>
            <a:endParaRPr lang="en-US" sz="1100" dirty="0"/>
          </a:p>
          <a:p>
            <a:pPr marL="0" indent="0">
              <a:spcAft>
                <a:spcPts val="400"/>
              </a:spcAft>
              <a:buNone/>
            </a:pPr>
            <a:r>
              <a:rPr lang="en-US" sz="1000" dirty="0">
                <a:solidFill>
                  <a:schemeClr val="tx1"/>
                </a:solidFill>
              </a:rPr>
              <a:t>Dynamic programming for correction and optimisation.</a:t>
            </a:r>
            <a:endParaRPr lang="en-US" sz="1100" dirty="0"/>
          </a:p>
        </p:txBody>
      </p:sp>
      <p:sp>
        <p:nvSpPr>
          <p:cNvPr id="12" name="Shape 10"/>
          <p:cNvSpPr/>
          <p:nvPr/>
        </p:nvSpPr>
        <p:spPr>
          <a:xfrm>
            <a:off x="365760" y="1965960"/>
            <a:ext cx="2697480" cy="960120"/>
          </a:xfrm>
          <a:prstGeom prst="rect">
            <a:avLst/>
          </a:prstGeom>
          <a:solidFill>
            <a:schemeClr val="bg1"/>
          </a:solidFill>
          <a:ln w="9525">
            <a:solidFill>
              <a:srgbClr val="CBD5E1"/>
            </a:solidFill>
            <a:prstDash val="solid"/>
          </a:ln>
        </p:spPr>
      </p:sp>
      <p:sp>
        <p:nvSpPr>
          <p:cNvPr id="13" name="Shape 11"/>
          <p:cNvSpPr/>
          <p:nvPr/>
        </p:nvSpPr>
        <p:spPr>
          <a:xfrm>
            <a:off x="365760" y="1965960"/>
            <a:ext cx="54864" cy="960120"/>
          </a:xfrm>
          <a:prstGeom prst="rect">
            <a:avLst/>
          </a:prstGeom>
          <a:solidFill>
            <a:schemeClr val="accent1"/>
          </a:solidFill>
          <a:ln w="12700">
            <a:solidFill>
              <a:schemeClr val="accent1"/>
            </a:solidFill>
            <a:prstDash val="solid"/>
          </a:ln>
        </p:spPr>
      </p:sp>
      <p:sp>
        <p:nvSpPr>
          <p:cNvPr id="14" name="Text 12"/>
          <p:cNvSpPr txBox="1"/>
          <p:nvPr/>
        </p:nvSpPr>
        <p:spPr>
          <a:xfrm>
            <a:off x="530352" y="2057400"/>
            <a:ext cx="2423160" cy="777240"/>
          </a:xfrm>
          <a:prstGeom prst="rect">
            <a:avLst/>
          </a:prstGeom>
          <a:noFill/>
          <a:ln/>
        </p:spPr>
        <p:txBody>
          <a:bodyPr wrap="square" lIns="0" tIns="0" rIns="0" bIns="0" rtlCol="0" anchor="t"/>
          <a:lstStyle/>
          <a:p>
            <a:pPr marL="0" indent="0">
              <a:spcAft>
                <a:spcPts val="400"/>
              </a:spcAft>
              <a:buNone/>
            </a:pPr>
            <a:r>
              <a:rPr lang="en-US" sz="1100" b="1" dirty="0">
                <a:solidFill>
                  <a:schemeClr val="accent1"/>
                </a:solidFill>
              </a:rPr>
              <a:t>M4 · Network Flow</a:t>
            </a:r>
            <a:endParaRPr lang="en-US" sz="1100" dirty="0"/>
          </a:p>
          <a:p>
            <a:pPr marL="0" indent="0">
              <a:spcAft>
                <a:spcPts val="400"/>
              </a:spcAft>
              <a:buNone/>
            </a:pPr>
            <a:r>
              <a:rPr lang="en-US" sz="1000" dirty="0">
                <a:solidFill>
                  <a:schemeClr val="tx1"/>
                </a:solidFill>
              </a:rPr>
              <a:t>Flow networks and constrained assignments.</a:t>
            </a:r>
            <a:endParaRPr lang="en-US" sz="1100" dirty="0"/>
          </a:p>
        </p:txBody>
      </p:sp>
      <p:sp>
        <p:nvSpPr>
          <p:cNvPr id="15" name="Shape 13"/>
          <p:cNvSpPr/>
          <p:nvPr/>
        </p:nvSpPr>
        <p:spPr>
          <a:xfrm>
            <a:off x="3223260" y="1965960"/>
            <a:ext cx="2697480" cy="960120"/>
          </a:xfrm>
          <a:prstGeom prst="rect">
            <a:avLst/>
          </a:prstGeom>
          <a:solidFill>
            <a:schemeClr val="bg1"/>
          </a:solidFill>
          <a:ln w="9525">
            <a:solidFill>
              <a:srgbClr val="CBD5E1"/>
            </a:solidFill>
            <a:prstDash val="solid"/>
          </a:ln>
        </p:spPr>
      </p:sp>
      <p:sp>
        <p:nvSpPr>
          <p:cNvPr id="16" name="Shape 14"/>
          <p:cNvSpPr/>
          <p:nvPr/>
        </p:nvSpPr>
        <p:spPr>
          <a:xfrm>
            <a:off x="3223260" y="1965960"/>
            <a:ext cx="54864" cy="960120"/>
          </a:xfrm>
          <a:prstGeom prst="rect">
            <a:avLst/>
          </a:prstGeom>
          <a:solidFill>
            <a:schemeClr val="accent1"/>
          </a:solidFill>
          <a:ln w="12700">
            <a:solidFill>
              <a:schemeClr val="accent1"/>
            </a:solidFill>
            <a:prstDash val="solid"/>
          </a:ln>
        </p:spPr>
      </p:sp>
      <p:sp>
        <p:nvSpPr>
          <p:cNvPr id="17" name="Text 15"/>
          <p:cNvSpPr txBox="1"/>
          <p:nvPr/>
        </p:nvSpPr>
        <p:spPr>
          <a:xfrm>
            <a:off x="3387852" y="2057400"/>
            <a:ext cx="2423160" cy="777240"/>
          </a:xfrm>
          <a:prstGeom prst="rect">
            <a:avLst/>
          </a:prstGeom>
          <a:noFill/>
          <a:ln/>
        </p:spPr>
        <p:txBody>
          <a:bodyPr wrap="square" lIns="0" tIns="0" rIns="0" bIns="0" rtlCol="0" anchor="t"/>
          <a:lstStyle/>
          <a:p>
            <a:pPr marL="0" indent="0">
              <a:spcAft>
                <a:spcPts val="400"/>
              </a:spcAft>
              <a:buNone/>
            </a:pPr>
            <a:r>
              <a:rPr lang="en-US" sz="1100" b="1" dirty="0">
                <a:solidFill>
                  <a:schemeClr val="accent1"/>
                </a:solidFill>
              </a:rPr>
              <a:t>M5 · NP-Completeness</a:t>
            </a:r>
            <a:endParaRPr lang="en-US" sz="1100" dirty="0"/>
          </a:p>
          <a:p>
            <a:pPr marL="0" indent="0">
              <a:spcAft>
                <a:spcPts val="400"/>
              </a:spcAft>
              <a:buNone/>
            </a:pPr>
            <a:r>
              <a:rPr lang="en-US" sz="1000" dirty="0">
                <a:solidFill>
                  <a:schemeClr val="tx1"/>
                </a:solidFill>
              </a:rPr>
              <a:t>Computational complexity, reductions and approximation.</a:t>
            </a:r>
            <a:endParaRPr lang="en-US" sz="1100" dirty="0"/>
          </a:p>
        </p:txBody>
      </p:sp>
      <p:sp>
        <p:nvSpPr>
          <p:cNvPr id="18" name="Shape 16"/>
          <p:cNvSpPr/>
          <p:nvPr/>
        </p:nvSpPr>
        <p:spPr>
          <a:xfrm>
            <a:off x="6080760" y="1965960"/>
            <a:ext cx="2697480" cy="960120"/>
          </a:xfrm>
          <a:prstGeom prst="rect">
            <a:avLst/>
          </a:prstGeom>
          <a:solidFill>
            <a:schemeClr val="bg1"/>
          </a:solidFill>
          <a:ln w="9525">
            <a:solidFill>
              <a:srgbClr val="CBD5E1"/>
            </a:solidFill>
            <a:prstDash val="solid"/>
          </a:ln>
        </p:spPr>
      </p:sp>
      <p:sp>
        <p:nvSpPr>
          <p:cNvPr id="19" name="Shape 17"/>
          <p:cNvSpPr/>
          <p:nvPr/>
        </p:nvSpPr>
        <p:spPr>
          <a:xfrm>
            <a:off x="6080760" y="1965960"/>
            <a:ext cx="54864" cy="960120"/>
          </a:xfrm>
          <a:prstGeom prst="rect">
            <a:avLst/>
          </a:prstGeom>
          <a:solidFill>
            <a:schemeClr val="accent1"/>
          </a:solidFill>
          <a:ln w="12700">
            <a:solidFill>
              <a:schemeClr val="accent1"/>
            </a:solidFill>
            <a:prstDash val="solid"/>
          </a:ln>
        </p:spPr>
      </p:sp>
      <p:sp>
        <p:nvSpPr>
          <p:cNvPr id="20" name="Text 18"/>
          <p:cNvSpPr txBox="1"/>
          <p:nvPr/>
        </p:nvSpPr>
        <p:spPr>
          <a:xfrm>
            <a:off x="6245352" y="2057400"/>
            <a:ext cx="2423160" cy="777240"/>
          </a:xfrm>
          <a:prstGeom prst="rect">
            <a:avLst/>
          </a:prstGeom>
          <a:noFill/>
          <a:ln/>
        </p:spPr>
        <p:txBody>
          <a:bodyPr wrap="square" lIns="0" tIns="0" rIns="0" bIns="0" rtlCol="0" anchor="t"/>
          <a:lstStyle/>
          <a:p>
            <a:pPr marL="0" indent="0">
              <a:spcAft>
                <a:spcPts val="400"/>
              </a:spcAft>
              <a:buNone/>
            </a:pPr>
            <a:r>
              <a:rPr lang="en-US" sz="1100" b="1" dirty="0">
                <a:solidFill>
                  <a:schemeClr val="accent1"/>
                </a:solidFill>
              </a:rPr>
              <a:t>M6 · Randomised &amp; Parallel</a:t>
            </a:r>
            <a:endParaRPr lang="en-US" sz="1100" dirty="0"/>
          </a:p>
          <a:p>
            <a:pPr marL="0" indent="0">
              <a:spcAft>
                <a:spcPts val="400"/>
              </a:spcAft>
              <a:buNone/>
            </a:pPr>
            <a:r>
              <a:rPr lang="en-US" sz="1000" dirty="0">
                <a:solidFill>
                  <a:schemeClr val="tx1"/>
                </a:solidFill>
              </a:rPr>
              <a:t>Randomised algorithms, sampling and parallel processing.</a:t>
            </a:r>
            <a:endParaRPr lang="en-US" sz="1100" dirty="0"/>
          </a:p>
        </p:txBody>
      </p:sp>
      <p:sp>
        <p:nvSpPr>
          <p:cNvPr id="21" name="Shape 19"/>
          <p:cNvSpPr/>
          <p:nvPr/>
        </p:nvSpPr>
        <p:spPr>
          <a:xfrm>
            <a:off x="365760" y="3200400"/>
            <a:ext cx="8412480" cy="1371600"/>
          </a:xfrm>
          <a:prstGeom prst="rect">
            <a:avLst/>
          </a:prstGeom>
          <a:solidFill>
            <a:schemeClr val="tx1"/>
          </a:solidFill>
          <a:ln w="12700">
            <a:solidFill>
              <a:schemeClr val="tx1"/>
            </a:solidFill>
            <a:prstDash val="solid"/>
          </a:ln>
        </p:spPr>
      </p:sp>
      <p:sp>
        <p:nvSpPr>
          <p:cNvPr id="22" name="Shape 20"/>
          <p:cNvSpPr/>
          <p:nvPr/>
        </p:nvSpPr>
        <p:spPr>
          <a:xfrm>
            <a:off x="365760" y="3200400"/>
            <a:ext cx="91440" cy="1371600"/>
          </a:xfrm>
          <a:prstGeom prst="rect">
            <a:avLst/>
          </a:prstGeom>
          <a:solidFill>
            <a:schemeClr val="accent2"/>
          </a:solidFill>
          <a:ln w="12700">
            <a:solidFill>
              <a:schemeClr val="accent2"/>
            </a:solidFill>
            <a:prstDash val="solid"/>
          </a:ln>
        </p:spPr>
      </p:sp>
      <p:sp>
        <p:nvSpPr>
          <p:cNvPr id="23" name="Text 21"/>
          <p:cNvSpPr txBox="1"/>
          <p:nvPr/>
        </p:nvSpPr>
        <p:spPr>
          <a:xfrm>
            <a:off x="731520" y="3291840"/>
            <a:ext cx="7863840" cy="1188720"/>
          </a:xfrm>
          <a:prstGeom prst="rect">
            <a:avLst/>
          </a:prstGeom>
          <a:noFill/>
          <a:ln/>
        </p:spPr>
        <p:txBody>
          <a:bodyPr wrap="square" lIns="0" tIns="0" rIns="0" bIns="0" rtlCol="0" anchor="ctr"/>
          <a:lstStyle/>
          <a:p>
            <a:pPr marL="0" indent="0">
              <a:buNone/>
            </a:pPr>
            <a:r>
              <a:rPr lang="en-US" sz="1600" b="1" dirty="0">
                <a:solidFill>
                  <a:schemeClr val="bg1"/>
                </a:solidFill>
              </a:rPr>
              <a:t>RailSync demonstrates that selecting the right algorithm requires understanding the problem structure, correctness requirements, time complexity, space complexity and practical constraints.</a:t>
            </a:r>
            <a:endParaRPr lang="en-US" sz="16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chemeClr val="tx2"/>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RailSync">
  <a:themeElements>
    <a:clrScheme name="RailSync">
      <a:dk1>
        <a:srgbClr val="0B1F3A"/>
      </a:dk1>
      <a:lt1>
        <a:srgbClr val="FFFFFF"/>
      </a:lt1>
      <a:dk2>
        <a:srgbClr val="475569"/>
      </a:dk2>
      <a:lt2>
        <a:srgbClr val="F1F5F9"/>
      </a:lt2>
      <a:accent1>
        <a:srgbClr val="0F9D8A"/>
      </a:accent1>
      <a:accent2>
        <a:srgbClr val="F59E0B"/>
      </a:accent2>
      <a:accent3>
        <a:srgbClr val="2563EB"/>
      </a:accent3>
      <a:accent4>
        <a:srgbClr val="7C3AED"/>
      </a:accent4>
      <a:accent5>
        <a:srgbClr val="DC2626"/>
      </a:accent5>
      <a:accent6>
        <a:srgbClr val="16A34A"/>
      </a:accent6>
      <a:hlink>
        <a:srgbClr val="2563EB"/>
      </a:hlink>
      <a:folHlink>
        <a:srgbClr val="7C3AED"/>
      </a:folHlink>
    </a:clrScheme>
    <a:fontScheme name="RailSyn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2042</Words>
  <Application>Microsoft Office PowerPoint</Application>
  <PresentationFormat>On-screen Show (16:9)</PresentationFormat>
  <Paragraphs>274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RailSync</vt:lpstr>
      <vt:lpstr>RailSync — Intelligent Railway Operations Platform</vt:lpstr>
      <vt:lpstr>Problem Statement</vt:lpstr>
      <vt:lpstr>Project Objectives and System Overview</vt:lpstr>
      <vt:lpstr>Module 1 — String Algorithms</vt:lpstr>
      <vt:lpstr>Module 2 — Suffix Structures and Similarity</vt:lpstr>
      <vt:lpstr>Module 3 — Advanced Dynamic Programming</vt:lpstr>
      <vt:lpstr>Module 4 — Network Flow</vt:lpstr>
      <vt:lpstr>Module 5 — NP-Completeness and Approximation</vt:lpstr>
      <vt:lpstr>Module 6 — Randomised and Parallel Algorithms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RailSync — Intelligent Railway Operations Platform</dc:title>
  <dc:subject>PptxGenJS Presentation</dc:subject>
  <dc:creator>PptxGenJS</dc:creator>
  <cp:lastModifiedBy>Ujwal Manikanta Tanigundala</cp:lastModifiedBy>
  <cp:revision>2</cp:revision>
  <dcterms:created xsi:type="dcterms:W3CDTF">2026-10-16T00:46:35Z</dcterms:created>
  <dcterms:modified xsi:type="dcterms:W3CDTF">2026-10-16T06:47:21Z</dcterms:modified>
</cp:coreProperties>
</file>